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60" r:id="rId3"/>
    <p:sldId id="262" r:id="rId4"/>
    <p:sldId id="261" r:id="rId5"/>
    <p:sldId id="263" r:id="rId6"/>
    <p:sldId id="264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48"/>
    <p:restoredTop sz="88631"/>
  </p:normalViewPr>
  <p:slideViewPr>
    <p:cSldViewPr snapToGrid="0">
      <p:cViewPr varScale="1">
        <p:scale>
          <a:sx n="138" d="100"/>
          <a:sy n="138" d="100"/>
        </p:scale>
        <p:origin x="17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41D7EB-BD0E-0240-BA9F-811AFFFF4181}" type="datetimeFigureOut">
              <a:rPr kumimoji="1" lang="zh-CN" altLang="en-US" smtClean="0"/>
              <a:t>2022/9/2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191361-9A95-5146-9820-1C55A2FD57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34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191361-9A95-5146-9820-1C55A2FD5791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0899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191361-9A95-5146-9820-1C55A2FD5791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1060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191361-9A95-5146-9820-1C55A2FD5791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1047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625600" y="5124451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 marL="457189" indent="0" algn="ctr">
              <a:buNone/>
            </a:lvl2pPr>
            <a:lvl3pPr marL="914377" indent="0" algn="ctr">
              <a:buNone/>
            </a:lvl3pPr>
            <a:lvl4pPr marL="1371566" indent="0" algn="ctr">
              <a:buNone/>
            </a:lvl4pPr>
            <a:lvl5pPr marL="1828754" indent="0" algn="ctr">
              <a:buNone/>
            </a:lvl5pPr>
            <a:lvl6pPr marL="2285943" indent="0" algn="ctr">
              <a:buNone/>
            </a:lvl6pPr>
            <a:lvl7pPr marL="2743131" indent="0" algn="ctr">
              <a:buNone/>
            </a:lvl7pPr>
            <a:lvl8pPr marL="3200320" indent="0" algn="ctr">
              <a:buNone/>
            </a:lvl8pPr>
            <a:lvl9pPr marL="3657509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 dirty="0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fld id="{5F3C1BE8-857C-3040-845D-99593EE75593}" type="datetimeFigureOut">
              <a:rPr kumimoji="1" lang="zh-CN" altLang="en-US" smtClean="0"/>
              <a:t>2022/8/31</a:t>
            </a:fld>
            <a:endParaRPr kumimoji="1"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 anchor="ctr"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fld id="{15A980FC-42BF-8C42-9E3D-932AF87261F4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219200" y="5048251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219200" y="5048251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08070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5F3C1BE8-857C-3040-845D-99593EE75593}" type="datetimeFigureOut">
              <a:rPr kumimoji="1" lang="zh-CN" altLang="en-US" smtClean="0"/>
              <a:t>2022/8/31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15A980FC-42BF-8C42-9E3D-932AF87261F4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  <a:lvl2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2pPr>
            <a:lvl3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3pPr>
            <a:lvl4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4pPr>
            <a:lvl5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二级</a:t>
            </a:r>
          </a:p>
          <a:p>
            <a:pPr lvl="2" eaLnBrk="1" latinLnBrk="0" hangingPunct="1"/>
            <a:r>
              <a:rPr lang="zh-CN" altLang="en-US" dirty="0"/>
              <a:t>三级</a:t>
            </a:r>
          </a:p>
          <a:p>
            <a:pPr lvl="3" eaLnBrk="1" latinLnBrk="0" hangingPunct="1"/>
            <a:r>
              <a:rPr lang="zh-CN" altLang="en-US" dirty="0"/>
              <a:t>四级</a:t>
            </a:r>
          </a:p>
          <a:p>
            <a:pPr lvl="4" eaLnBrk="1" latinLnBrk="0" hangingPunct="1"/>
            <a:r>
              <a:rPr lang="zh-CN" altLang="en-US" dirty="0"/>
              <a:t>五级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475252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fld id="{5F3C1BE8-857C-3040-845D-99593EE75593}" type="datetimeFigureOut">
              <a:rPr kumimoji="1" lang="zh-CN" altLang="en-US" smtClean="0"/>
              <a:t>2022/8/31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fld id="{15A980FC-42BF-8C42-9E3D-932AF87261F4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462471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fld id="{5F3C1BE8-857C-3040-845D-99593EE75593}" type="datetimeFigureOut">
              <a:rPr kumimoji="1" lang="zh-CN" altLang="en-US" smtClean="0"/>
              <a:t>2022/8/31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fld id="{15A980FC-42BF-8C42-9E3D-932AF87261F4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2pPr>
            <a:lvl3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二级</a:t>
            </a:r>
          </a:p>
          <a:p>
            <a:pPr lvl="2" eaLnBrk="1" latinLnBrk="0" hangingPunct="1"/>
            <a:r>
              <a:rPr lang="zh-CN" altLang="en-US"/>
              <a:t>三级</a:t>
            </a:r>
          </a:p>
          <a:p>
            <a:pPr lvl="3" eaLnBrk="1" latinLnBrk="0" hangingPunct="1"/>
            <a:r>
              <a:rPr lang="zh-CN" altLang="en-US"/>
              <a:t>四级</a:t>
            </a:r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2pPr>
            <a:lvl3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二级</a:t>
            </a:r>
          </a:p>
          <a:p>
            <a:pPr lvl="2" eaLnBrk="1" latinLnBrk="0" hangingPunct="1"/>
            <a:r>
              <a:rPr lang="zh-CN" altLang="en-US"/>
              <a:t>三级</a:t>
            </a:r>
          </a:p>
          <a:p>
            <a:pPr lvl="3" eaLnBrk="1" latinLnBrk="0" hangingPunct="1"/>
            <a:r>
              <a:rPr lang="zh-CN" altLang="en-US"/>
              <a:t>四级</a:t>
            </a:r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347895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  <a:latin typeface="Dubai" panose="020B0503030403030204" pitchFamily="34" charset="-78"/>
                <a:cs typeface="Dubai" panose="020B0503030403030204" pitchFamily="34" charset="-78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197602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  <a:latin typeface="Dubai" panose="020B0503030403030204" pitchFamily="34" charset="-78"/>
                <a:cs typeface="Dubai" panose="020B0503030403030204" pitchFamily="34" charset="-78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5F3C1BE8-857C-3040-845D-99593EE75593}" type="datetimeFigureOut">
              <a:rPr kumimoji="1" lang="zh-CN" altLang="en-US" smtClean="0"/>
              <a:t>2022/8/31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15A980FC-42BF-8C42-9E3D-932AF87261F4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  <a:lvl2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2pPr>
            <a:lvl3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3pPr>
            <a:lvl4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4pPr>
            <a:lvl5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二级</a:t>
            </a:r>
          </a:p>
          <a:p>
            <a:pPr lvl="2" eaLnBrk="1" latinLnBrk="0" hangingPunct="1"/>
            <a:r>
              <a:rPr lang="zh-CN" altLang="en-US"/>
              <a:t>三级</a:t>
            </a:r>
          </a:p>
          <a:p>
            <a:pPr lvl="3" eaLnBrk="1" latinLnBrk="0" hangingPunct="1"/>
            <a:r>
              <a:rPr lang="zh-CN" altLang="en-US"/>
              <a:t>四级</a:t>
            </a:r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  <a:lvl2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2pPr>
            <a:lvl3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3pPr>
            <a:lvl4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4pPr>
            <a:lvl5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二级</a:t>
            </a:r>
          </a:p>
          <a:p>
            <a:pPr lvl="2" eaLnBrk="1" latinLnBrk="0" hangingPunct="1"/>
            <a:r>
              <a:rPr lang="zh-CN" altLang="en-US"/>
              <a:t>三级</a:t>
            </a:r>
          </a:p>
          <a:p>
            <a:pPr lvl="3" eaLnBrk="1" latinLnBrk="0" hangingPunct="1"/>
            <a:r>
              <a:rPr lang="zh-CN" altLang="en-US"/>
              <a:t>四级</a:t>
            </a:r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194273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5F3C1BE8-857C-3040-845D-99593EE75593}" type="datetimeFigureOut">
              <a:rPr kumimoji="1" lang="zh-CN" altLang="en-US" smtClean="0"/>
              <a:t>2022/8/31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15A980FC-42BF-8C42-9E3D-932AF87261F4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590610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5641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5F3C1BE8-857C-3040-845D-99593EE75593}" type="datetimeFigureOut">
              <a:rPr kumimoji="1" lang="zh-CN" altLang="en-US" smtClean="0"/>
              <a:t>2022/8/31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15A980FC-42BF-8C42-9E3D-932AF87261F4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5" name="直接连接符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590610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12051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8432800" y="1219202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fld id="{5F3C1BE8-857C-3040-845D-99593EE75593}" type="datetimeFigureOut">
              <a:rPr kumimoji="1" lang="zh-CN" altLang="en-US" smtClean="0"/>
              <a:t>2022/8/31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fld id="{15A980FC-42BF-8C42-9E3D-932AF87261F4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  <p:sp>
        <p:nvSpPr>
          <p:cNvPr id="10" name="直接连接符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590610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2pPr>
            <a:lvl3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二级</a:t>
            </a:r>
          </a:p>
          <a:p>
            <a:pPr lvl="2" eaLnBrk="1" latinLnBrk="0" hangingPunct="1"/>
            <a:r>
              <a:rPr lang="zh-CN" altLang="en-US"/>
              <a:t>三级</a:t>
            </a:r>
          </a:p>
          <a:p>
            <a:pPr lvl="3" eaLnBrk="1" latinLnBrk="0" hangingPunct="1"/>
            <a:r>
              <a:rPr lang="zh-CN" altLang="en-US"/>
              <a:t>四级</a:t>
            </a:r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7595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>
                <a:latin typeface="Dubai" panose="020B0503030403030204" pitchFamily="34" charset="-78"/>
                <a:cs typeface="Dubai" panose="020B0503030403030204" pitchFamily="34" charset="-78"/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5F3C1BE8-857C-3040-845D-99593EE75593}" type="datetimeFigureOut">
              <a:rPr kumimoji="1" lang="zh-CN" altLang="en-US" smtClean="0"/>
              <a:t>2022/8/31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15A980FC-42BF-8C42-9E3D-932AF87261F4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590610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330351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  <a:lvl2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2pPr>
            <a:lvl3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3pPr>
            <a:lvl4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4pPr>
            <a:lvl5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二级</a:t>
            </a:r>
          </a:p>
          <a:p>
            <a:pPr lvl="2" eaLnBrk="1" latinLnBrk="0" hangingPunct="1"/>
            <a:r>
              <a:rPr lang="zh-CN" altLang="en-US"/>
              <a:t>三级</a:t>
            </a:r>
          </a:p>
          <a:p>
            <a:pPr lvl="3" eaLnBrk="1" latinLnBrk="0" hangingPunct="1"/>
            <a:r>
              <a:rPr lang="zh-CN" altLang="en-US"/>
              <a:t>四级</a:t>
            </a:r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5F3C1BE8-857C-3040-845D-99593EE75593}" type="datetimeFigureOut">
              <a:rPr kumimoji="1" lang="zh-CN" altLang="en-US" smtClean="0"/>
              <a:t>2022/8/31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15A980FC-42BF-8C42-9E3D-932AF87261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5761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  <a:lvl2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2pPr>
            <a:lvl3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3pPr>
            <a:lvl4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4pPr>
            <a:lvl5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二级</a:t>
            </a:r>
          </a:p>
          <a:p>
            <a:pPr lvl="2" eaLnBrk="1" latinLnBrk="0" hangingPunct="1"/>
            <a:r>
              <a:rPr lang="zh-CN" altLang="en-US"/>
              <a:t>三级</a:t>
            </a:r>
          </a:p>
          <a:p>
            <a:pPr lvl="3" eaLnBrk="1" latinLnBrk="0" hangingPunct="1"/>
            <a:r>
              <a:rPr lang="zh-CN" altLang="en-US"/>
              <a:t>四级</a:t>
            </a:r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5F3C1BE8-857C-3040-845D-99593EE75593}" type="datetimeFigureOut">
              <a:rPr kumimoji="1" lang="zh-CN" altLang="en-US" smtClean="0"/>
              <a:t>2022/8/31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15A980FC-42BF-8C42-9E3D-932AF87261F4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8" name="等腰三角形 7"/>
          <p:cNvSpPr>
            <a:spLocks noChangeAspect="1"/>
          </p:cNvSpPr>
          <p:nvPr/>
        </p:nvSpPr>
        <p:spPr>
          <a:xfrm rot="5400000">
            <a:off x="590610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03729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zh-CN" altLang="en-US" dirty="0"/>
              <a:t>单击此处编辑母版标题样式</a:t>
            </a:r>
            <a:endParaRPr kumimoji="0" 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dirty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/>
              <a:t>第二级</a:t>
            </a:r>
          </a:p>
          <a:p>
            <a:pPr lvl="2" eaLnBrk="1" latinLnBrk="0" hangingPunct="1"/>
            <a:r>
              <a:rPr kumimoji="0" lang="zh-CN" altLang="en-US" dirty="0"/>
              <a:t>第三级</a:t>
            </a:r>
          </a:p>
          <a:p>
            <a:pPr lvl="3" eaLnBrk="1" latinLnBrk="0" hangingPunct="1"/>
            <a:r>
              <a:rPr kumimoji="0" lang="zh-CN" altLang="en-US" dirty="0"/>
              <a:t>第四级</a:t>
            </a:r>
          </a:p>
          <a:p>
            <a:pPr lvl="4" eaLnBrk="1" latinLnBrk="0" hangingPunct="1"/>
            <a:r>
              <a:rPr kumimoji="0" lang="zh-CN" altLang="en-US" dirty="0"/>
              <a:t>第五级</a:t>
            </a:r>
            <a:endParaRPr kumimoji="0" 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534400" y="6356351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 b="0" i="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fld id="{5F3C1BE8-857C-3040-845D-99593EE75593}" type="datetimeFigureOut">
              <a:rPr kumimoji="1" lang="zh-CN" altLang="en-US" smtClean="0"/>
              <a:t>2022/8/31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3864864" y="6356351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 b="0" i="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16864" y="6356351"/>
            <a:ext cx="2641600" cy="365760"/>
          </a:xfrm>
          <a:prstGeom prst="rect">
            <a:avLst/>
          </a:prstGeom>
        </p:spPr>
        <p:txBody>
          <a:bodyPr vert="horz" anchor="ctr"/>
          <a:lstStyle>
            <a:lvl1pPr algn="l" eaLnBrk="1" latinLnBrk="0" hangingPunct="1">
              <a:defRPr kumimoji="0" sz="1400" b="0" i="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fld id="{15A980FC-42BF-8C42-9E3D-932AF87261F4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8" name="直接连接符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b="0" i="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  <p:sp>
        <p:nvSpPr>
          <p:cNvPr id="29" name="直接连接符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b="0" i="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  <p:sp>
        <p:nvSpPr>
          <p:cNvPr id="10" name="等腰三角形 9"/>
          <p:cNvSpPr>
            <a:spLocks noChangeAspect="1"/>
          </p:cNvSpPr>
          <p:nvPr/>
        </p:nvSpPr>
        <p:spPr>
          <a:xfrm rot="5400000">
            <a:off x="590610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b="0" i="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54086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b="0" i="0" kern="1200">
          <a:solidFill>
            <a:schemeClr val="tx2"/>
          </a:solidFill>
          <a:latin typeface="Dubai" panose="020B0503030403030204" pitchFamily="34" charset="-78"/>
          <a:ea typeface="DengXian" panose="02010600030101010101" pitchFamily="2" charset="-122"/>
          <a:cs typeface="Dubai" panose="020B0503030403030204" pitchFamily="34" charset="-78"/>
        </a:defRPr>
      </a:lvl1pPr>
    </p:titleStyle>
    <p:bodyStyle>
      <a:lvl1pPr marL="274313" indent="-274313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b="0" i="0" kern="1200">
          <a:solidFill>
            <a:schemeClr val="tx1"/>
          </a:solidFill>
          <a:latin typeface="Dubai" panose="020B0503030403030204" pitchFamily="34" charset="-78"/>
          <a:ea typeface="DengXian" panose="02010600030101010101" pitchFamily="2" charset="-122"/>
          <a:cs typeface="Dubai" panose="020B0503030403030204" pitchFamily="34" charset="-78"/>
        </a:defRPr>
      </a:lvl1pPr>
      <a:lvl2pPr marL="548626" indent="-274313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b="0" i="0" kern="1200">
          <a:solidFill>
            <a:schemeClr val="tx2"/>
          </a:solidFill>
          <a:latin typeface="Dubai" panose="020B0503030403030204" pitchFamily="34" charset="-78"/>
          <a:ea typeface="DengXian" panose="02010600030101010101" pitchFamily="2" charset="-122"/>
          <a:cs typeface="Dubai" panose="020B0503030403030204" pitchFamily="34" charset="-78"/>
        </a:defRPr>
      </a:lvl2pPr>
      <a:lvl3pPr marL="822939" indent="-228594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b="0" i="0" kern="1200">
          <a:solidFill>
            <a:schemeClr val="tx1"/>
          </a:solidFill>
          <a:latin typeface="Dubai" panose="020B0503030403030204" pitchFamily="34" charset="-78"/>
          <a:ea typeface="DengXian" panose="02010600030101010101" pitchFamily="2" charset="-122"/>
          <a:cs typeface="Dubai" panose="020B0503030403030204" pitchFamily="34" charset="-78"/>
        </a:defRPr>
      </a:lvl3pPr>
      <a:lvl4pPr marL="1097253" indent="-228594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b="0" i="0" kern="1200">
          <a:solidFill>
            <a:schemeClr val="tx1"/>
          </a:solidFill>
          <a:latin typeface="Dubai" panose="020B0503030403030204" pitchFamily="34" charset="-78"/>
          <a:ea typeface="DengXian" panose="02010600030101010101" pitchFamily="2" charset="-122"/>
          <a:cs typeface="Dubai" panose="020B0503030403030204" pitchFamily="34" charset="-78"/>
        </a:defRPr>
      </a:lvl4pPr>
      <a:lvl5pPr marL="1371566" indent="-228594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b="0" i="0" kern="1200">
          <a:solidFill>
            <a:schemeClr val="tx1"/>
          </a:solidFill>
          <a:latin typeface="Dubai" panose="020B0503030403030204" pitchFamily="34" charset="-78"/>
          <a:ea typeface="DengXian" panose="02010600030101010101" pitchFamily="2" charset="-122"/>
          <a:cs typeface="Dubai" panose="020B0503030403030204" pitchFamily="34" charset="-78"/>
        </a:defRPr>
      </a:lvl5pPr>
      <a:lvl6pPr marL="1645879" indent="-182875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754" indent="-182875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30" indent="-182875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05" indent="-182875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ldratle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CF2F16-586D-7BA2-6056-9745536627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向量</a:t>
            </a:r>
            <a:r>
              <a:rPr kumimoji="1" lang="en-US" altLang="zh-CN" dirty="0"/>
              <a:t>(</a:t>
            </a:r>
            <a:r>
              <a:rPr kumimoji="1" lang="zh-CN" altLang="en-US" dirty="0"/>
              <a:t>矩阵</a:t>
            </a:r>
            <a:r>
              <a:rPr kumimoji="1" lang="en-US" altLang="zh-CN" dirty="0"/>
              <a:t>)</a:t>
            </a:r>
            <a:r>
              <a:rPr kumimoji="1" lang="zh-CN" altLang="en-US" dirty="0"/>
              <a:t>的表达与运算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993ABB0-1235-1C17-8DDF-AB8AF76134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尺规 </a:t>
            </a:r>
            <a:r>
              <a:rPr kumimoji="1" lang="en-US" altLang="zh-CN" dirty="0"/>
              <a:t>(</a:t>
            </a:r>
            <a:r>
              <a:rPr kumimoji="1" lang="zh-CN" altLang="en-US" dirty="0"/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oldratlee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1930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5844E4-77EA-944E-015D-87301C35C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术语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17F79D-C3D7-BE68-A0C6-1B7A2CF88C6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506548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zh-CN" altLang="en-US" dirty="0"/>
              <a:t>向量</a:t>
            </a:r>
            <a:endParaRPr kumimoji="1" lang="en-US" altLang="zh-CN" dirty="0"/>
          </a:p>
          <a:p>
            <a:pPr lvl="1">
              <a:lnSpc>
                <a:spcPct val="120000"/>
              </a:lnSpc>
            </a:pPr>
            <a:r>
              <a:rPr kumimoji="1" lang="zh-CN" altLang="en-US" dirty="0"/>
              <a:t>向量一般指 </a:t>
            </a:r>
            <a:r>
              <a:rPr kumimoji="1" lang="en-US" altLang="zh-CN" b="1" dirty="0">
                <a:solidFill>
                  <a:srgbClr val="C00000"/>
                </a:solidFill>
              </a:rPr>
              <a:t>1</a:t>
            </a:r>
            <a:r>
              <a:rPr kumimoji="1" lang="zh-CN" altLang="en-US" dirty="0"/>
              <a:t>维</a:t>
            </a:r>
            <a:r>
              <a:rPr kumimoji="1" lang="zh-CN" altLang="en-US" dirty="0">
                <a:solidFill>
                  <a:schemeClr val="accent6">
                    <a:lumMod val="75000"/>
                  </a:schemeClr>
                </a:solidFill>
              </a:rPr>
              <a:t>数组</a:t>
            </a:r>
            <a:r>
              <a:rPr kumimoji="1" lang="zh-CN" altLang="en-US" dirty="0"/>
              <a:t>的数据</a:t>
            </a:r>
            <a:endParaRPr kumimoji="1" lang="en-US" altLang="zh-CN" dirty="0"/>
          </a:p>
          <a:p>
            <a:pPr lvl="1">
              <a:lnSpc>
                <a:spcPct val="120000"/>
              </a:lnSpc>
            </a:pPr>
            <a:endParaRPr kumimoji="1" lang="en-US" altLang="zh-CN" dirty="0"/>
          </a:p>
          <a:p>
            <a:pPr>
              <a:lnSpc>
                <a:spcPct val="120000"/>
              </a:lnSpc>
            </a:pPr>
            <a:r>
              <a:rPr kumimoji="1" lang="zh-CN" altLang="en-US" dirty="0"/>
              <a:t>矩阵</a:t>
            </a:r>
            <a:endParaRPr kumimoji="1" lang="en-US" altLang="zh-CN" dirty="0"/>
          </a:p>
          <a:p>
            <a:pPr lvl="1">
              <a:lnSpc>
                <a:spcPct val="120000"/>
              </a:lnSpc>
            </a:pPr>
            <a:r>
              <a:rPr kumimoji="1" lang="zh-CN" altLang="en-US" dirty="0"/>
              <a:t>矩阵一般指 </a:t>
            </a:r>
            <a:r>
              <a:rPr kumimoji="1" lang="en-US" altLang="zh-CN" b="1" dirty="0">
                <a:solidFill>
                  <a:srgbClr val="C00000"/>
                </a:solidFill>
              </a:rPr>
              <a:t>2</a:t>
            </a:r>
            <a:r>
              <a:rPr kumimoji="1" lang="zh-CN" altLang="en-US" dirty="0"/>
              <a:t>维</a:t>
            </a:r>
            <a:r>
              <a:rPr kumimoji="1" lang="zh-CN" altLang="en-US" dirty="0">
                <a:solidFill>
                  <a:schemeClr val="accent6">
                    <a:lumMod val="75000"/>
                  </a:schemeClr>
                </a:solidFill>
              </a:rPr>
              <a:t>数组</a:t>
            </a:r>
            <a:r>
              <a:rPr kumimoji="1" lang="zh-CN" altLang="en-US" dirty="0"/>
              <a:t>的数据</a:t>
            </a:r>
            <a:endParaRPr kumimoji="1" lang="en-US" altLang="zh-CN" dirty="0"/>
          </a:p>
          <a:p>
            <a:pPr lvl="1">
              <a:lnSpc>
                <a:spcPct val="120000"/>
              </a:lnSpc>
            </a:pPr>
            <a:endParaRPr kumimoji="1" lang="en-US" altLang="zh-CN" dirty="0"/>
          </a:p>
          <a:p>
            <a:pPr>
              <a:lnSpc>
                <a:spcPct val="120000"/>
              </a:lnSpc>
            </a:pPr>
            <a:r>
              <a:rPr kumimoji="1" lang="zh-CN" altLang="en-US" dirty="0"/>
              <a:t>维度</a:t>
            </a:r>
            <a:endParaRPr kumimoji="1" lang="en-US" altLang="zh-CN" dirty="0"/>
          </a:p>
          <a:p>
            <a:pPr lvl="1">
              <a:lnSpc>
                <a:spcPct val="120000"/>
              </a:lnSpc>
            </a:pPr>
            <a:r>
              <a:rPr kumimoji="1" lang="zh-CN" altLang="en-US" dirty="0"/>
              <a:t>有</a:t>
            </a:r>
            <a:r>
              <a:rPr kumimoji="1" lang="en-US" altLang="zh-CN" dirty="0"/>
              <a:t>2</a:t>
            </a:r>
            <a:r>
              <a:rPr kumimoji="1" lang="zh-CN" altLang="en-US" dirty="0"/>
              <a:t>种含义 </a:t>
            </a:r>
            <a:r>
              <a:rPr kumimoji="1" lang="en-US" altLang="zh-CN" dirty="0"/>
              <a:t>(</a:t>
            </a:r>
            <a:r>
              <a:rPr kumimoji="1" lang="zh-CN" altLang="en-US" dirty="0"/>
              <a:t>注意别交流理解错了</a:t>
            </a:r>
            <a:r>
              <a:rPr kumimoji="1" lang="en-US" altLang="zh-CN" dirty="0"/>
              <a:t>)</a:t>
            </a:r>
          </a:p>
          <a:p>
            <a:pPr lvl="1">
              <a:lnSpc>
                <a:spcPct val="120000"/>
              </a:lnSpc>
            </a:pPr>
            <a:r>
              <a:rPr kumimoji="1" lang="zh-CN" altLang="en-US" dirty="0"/>
              <a:t>一是指 数据数组的维度，</a:t>
            </a:r>
            <a:br>
              <a:rPr kumimoji="1" lang="en-US" altLang="zh-CN" dirty="0"/>
            </a:br>
            <a:r>
              <a:rPr kumimoji="1" lang="zh-CN" altLang="en-US" dirty="0"/>
              <a:t>向量是</a:t>
            </a:r>
            <a:r>
              <a:rPr kumimoji="1" lang="en-US" altLang="zh-CN" dirty="0"/>
              <a:t>1</a:t>
            </a:r>
            <a:r>
              <a:rPr kumimoji="1" lang="zh-CN" altLang="en-US" dirty="0"/>
              <a:t>维、矩阵是</a:t>
            </a:r>
            <a:r>
              <a:rPr kumimoji="1" lang="en-US" altLang="zh-CN" dirty="0"/>
              <a:t>2</a:t>
            </a:r>
            <a:r>
              <a:rPr kumimoji="1" lang="zh-CN" altLang="en-US" dirty="0"/>
              <a:t>维，可以有更高维</a:t>
            </a:r>
            <a:endParaRPr kumimoji="1" lang="en-US" altLang="zh-CN" dirty="0"/>
          </a:p>
          <a:p>
            <a:pPr lvl="1">
              <a:lnSpc>
                <a:spcPct val="120000"/>
              </a:lnSpc>
            </a:pPr>
            <a:r>
              <a:rPr kumimoji="1" lang="zh-CN" altLang="en-US" dirty="0"/>
              <a:t>二是指 数组一维中数据个数（即数组长度）</a:t>
            </a:r>
            <a:br>
              <a:rPr kumimoji="1" lang="en-US" altLang="zh-CN" dirty="0"/>
            </a:br>
            <a:r>
              <a:rPr kumimoji="1" lang="zh-CN" altLang="en-US" dirty="0"/>
              <a:t>如 </a:t>
            </a:r>
            <a:r>
              <a:rPr kumimoji="1" lang="en-US" altLang="zh-CN" dirty="0"/>
              <a:t>2</a:t>
            </a:r>
            <a:r>
              <a:rPr kumimoji="1" lang="zh-CN" altLang="en-US" dirty="0"/>
              <a:t>维平面 </a:t>
            </a:r>
            <a:r>
              <a:rPr kumimoji="1" lang="en-US" altLang="zh-CN" dirty="0"/>
              <a:t>(x,</a:t>
            </a:r>
            <a:r>
              <a:rPr kumimoji="1" lang="zh-CN" altLang="en-US" dirty="0"/>
              <a:t> </a:t>
            </a:r>
            <a:r>
              <a:rPr kumimoji="1" lang="en-US" altLang="zh-CN" dirty="0"/>
              <a:t>y)</a:t>
            </a:r>
            <a:r>
              <a:rPr kumimoji="1" lang="zh-CN" altLang="en-US" dirty="0"/>
              <a:t>，</a:t>
            </a:r>
            <a:r>
              <a:rPr kumimoji="1" lang="en-US" altLang="zh-CN" dirty="0"/>
              <a:t>3</a:t>
            </a:r>
            <a:r>
              <a:rPr kumimoji="1" lang="zh-CN" altLang="en-US" dirty="0"/>
              <a:t>维空间 </a:t>
            </a:r>
            <a:r>
              <a:rPr kumimoji="1" lang="en-US" altLang="zh-CN" dirty="0"/>
              <a:t>(x,</a:t>
            </a:r>
            <a:r>
              <a:rPr kumimoji="1" lang="zh-CN" altLang="en-US" dirty="0"/>
              <a:t> </a:t>
            </a:r>
            <a:r>
              <a:rPr kumimoji="1" lang="en-US" altLang="zh-CN" dirty="0"/>
              <a:t>y,</a:t>
            </a:r>
            <a:r>
              <a:rPr kumimoji="1" lang="zh-CN" altLang="en-US" dirty="0"/>
              <a:t> </a:t>
            </a:r>
            <a:r>
              <a:rPr kumimoji="1" lang="en-US" altLang="zh-CN" dirty="0"/>
              <a:t>z)</a:t>
            </a:r>
          </a:p>
          <a:p>
            <a:pPr>
              <a:lnSpc>
                <a:spcPct val="120000"/>
              </a:lnSpc>
            </a:pPr>
            <a:endParaRPr kumimoji="1"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B9ACC9-2168-7C65-E961-E57AF90B14D4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539345" y="1216152"/>
            <a:ext cx="5025783" cy="493776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zh-CN" altLang="en-US" dirty="0"/>
              <a:t>行向量，列向量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kumimoji="1" lang="zh-CN" altLang="en-US" dirty="0"/>
              <a:t>当不涉及矩阵操作时，</a:t>
            </a:r>
            <a:br>
              <a:rPr kumimoji="1" lang="en-US" altLang="zh-CN" dirty="0"/>
            </a:br>
            <a:r>
              <a:rPr kumimoji="1" lang="zh-CN" altLang="en-US" dirty="0"/>
              <a:t>则两者</a:t>
            </a:r>
            <a:r>
              <a:rPr kumimoji="1" lang="en-US" altLang="zh-CN" dirty="0"/>
              <a:t>(</a:t>
            </a:r>
            <a:r>
              <a:rPr kumimoji="1" lang="zh-CN" altLang="en-US" dirty="0"/>
              <a:t>可能</a:t>
            </a:r>
            <a:r>
              <a:rPr kumimoji="1" lang="en-US" altLang="zh-CN" dirty="0"/>
              <a:t>)</a:t>
            </a:r>
            <a:r>
              <a:rPr kumimoji="1" lang="zh-CN" altLang="en-US" dirty="0">
                <a:solidFill>
                  <a:schemeClr val="accent6">
                    <a:lumMod val="75000"/>
                  </a:schemeClr>
                </a:solidFill>
              </a:rPr>
              <a:t>只是排版</a:t>
            </a:r>
            <a:r>
              <a:rPr kumimoji="1" lang="zh-CN" altLang="en-US" dirty="0"/>
              <a:t>的区别。</a:t>
            </a:r>
            <a:endParaRPr kumimoji="1" lang="en-US" altLang="zh-CN" dirty="0"/>
          </a:p>
          <a:p>
            <a:pPr>
              <a:lnSpc>
                <a:spcPct val="120000"/>
              </a:lnSpc>
            </a:pPr>
            <a:endParaRPr kumimoji="1" lang="en-US" altLang="zh-CN" sz="2000" dirty="0"/>
          </a:p>
          <a:p>
            <a:pPr>
              <a:lnSpc>
                <a:spcPct val="120000"/>
              </a:lnSpc>
            </a:pPr>
            <a:endParaRPr kumimoji="1" lang="en-US" altLang="zh-CN" sz="2000" dirty="0"/>
          </a:p>
          <a:p>
            <a:pPr>
              <a:lnSpc>
                <a:spcPct val="120000"/>
              </a:lnSpc>
            </a:pPr>
            <a:endParaRPr kumimoji="1" lang="en-US" altLang="zh-CN" sz="2000" dirty="0"/>
          </a:p>
          <a:p>
            <a:pPr>
              <a:lnSpc>
                <a:spcPct val="120000"/>
              </a:lnSpc>
            </a:pPr>
            <a:endParaRPr kumimoji="1" lang="en-US" altLang="zh-CN" sz="2000" dirty="0"/>
          </a:p>
          <a:p>
            <a:pPr>
              <a:lnSpc>
                <a:spcPct val="120000"/>
              </a:lnSpc>
            </a:pPr>
            <a:endParaRPr kumimoji="1" lang="en-US" altLang="zh-CN" sz="2000" dirty="0"/>
          </a:p>
          <a:p>
            <a:pPr>
              <a:lnSpc>
                <a:spcPct val="120000"/>
              </a:lnSpc>
            </a:pPr>
            <a:endParaRPr kumimoji="1" lang="en-US" altLang="zh-CN" sz="2000" dirty="0"/>
          </a:p>
          <a:p>
            <a:pPr>
              <a:lnSpc>
                <a:spcPct val="120000"/>
              </a:lnSpc>
            </a:pPr>
            <a:endParaRPr kumimoji="1" lang="en-US" altLang="zh-CN" sz="2000" dirty="0"/>
          </a:p>
          <a:p>
            <a:pPr>
              <a:lnSpc>
                <a:spcPct val="120000"/>
              </a:lnSpc>
            </a:pPr>
            <a:r>
              <a:rPr kumimoji="1" lang="zh-CN" altLang="en-US" sz="2000" dirty="0"/>
              <a:t>向量、矩阵 是 多个数据的组织</a:t>
            </a:r>
            <a:r>
              <a:rPr kumimoji="1" lang="en-US" altLang="zh-CN" sz="2000" dirty="0"/>
              <a:t>/</a:t>
            </a:r>
            <a:r>
              <a:rPr kumimoji="1" lang="zh-CN" altLang="en-US" sz="2000" dirty="0"/>
              <a:t>表示方式</a:t>
            </a:r>
            <a:endParaRPr kumimoji="1" lang="en-US" altLang="zh-CN" sz="2000" dirty="0"/>
          </a:p>
          <a:p>
            <a:pPr lvl="1">
              <a:lnSpc>
                <a:spcPct val="120000"/>
              </a:lnSpc>
            </a:pPr>
            <a:r>
              <a:rPr kumimoji="1" lang="zh-CN" altLang="en-US" sz="1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还有 </a:t>
            </a:r>
            <a:r>
              <a:rPr kumimoji="1" lang="zh-CN" altLang="en-US" sz="1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张量</a:t>
            </a:r>
            <a:r>
              <a:rPr kumimoji="1" lang="zh-CN" altLang="en-US" sz="1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，自己平时没有理解使用过</a:t>
            </a:r>
            <a:endParaRPr kumimoji="1" lang="zh-CN" alt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F0AC8F1-30B6-59D8-85FC-BFA7ABBBEA04}"/>
                  </a:ext>
                </a:extLst>
              </p:cNvPr>
              <p:cNvSpPr txBox="1"/>
              <p:nvPr/>
            </p:nvSpPr>
            <p:spPr>
              <a:xfrm>
                <a:off x="7383787" y="3111866"/>
                <a:ext cx="177484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zh-CN" sz="200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0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20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20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CN" sz="20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1" lang="en-US" altLang="zh-CN" sz="20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0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F0AC8F1-30B6-59D8-85FC-BFA7ABBBE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3787" y="3111866"/>
                <a:ext cx="1774845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2144400-541B-0615-8347-274B9823FA70}"/>
                  </a:ext>
                </a:extLst>
              </p:cNvPr>
              <p:cNvSpPr txBox="1"/>
              <p:nvPr/>
            </p:nvSpPr>
            <p:spPr>
              <a:xfrm>
                <a:off x="9292382" y="2859842"/>
                <a:ext cx="602537" cy="9041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zh-CN" sz="200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20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20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0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2000" i="1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0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2144400-541B-0615-8347-274B9823F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2382" y="2859842"/>
                <a:ext cx="602537" cy="904158"/>
              </a:xfrm>
              <a:prstGeom prst="rect">
                <a:avLst/>
              </a:prstGeom>
              <a:blipFill>
                <a:blip r:embed="rId3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5373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F2BF61-3463-B962-11DF-AA4088A1E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多维数据的 表示 与 索引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D74612-A111-1598-B034-90CE2FB38A6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kumimoji="1" lang="zh-CN" altLang="en-US" dirty="0"/>
              <a:t>看一个 </a:t>
            </a:r>
            <a:r>
              <a:rPr kumimoji="1" lang="en-US" altLang="zh-CN" dirty="0"/>
              <a:t>3</a:t>
            </a:r>
            <a:r>
              <a:rPr kumimoji="1" lang="zh-CN" altLang="en-US" dirty="0"/>
              <a:t>维数据：</a:t>
            </a:r>
            <a:endParaRPr kumimoji="1" lang="en-US" altLang="zh-CN" dirty="0"/>
          </a:p>
          <a:p>
            <a:pPr lvl="1">
              <a:lnSpc>
                <a:spcPct val="120000"/>
              </a:lnSpc>
            </a:pPr>
            <a:endParaRPr kumimoji="1" lang="en-US" altLang="zh-CN" sz="2000" dirty="0"/>
          </a:p>
          <a:p>
            <a:pPr>
              <a:lnSpc>
                <a:spcPct val="120000"/>
              </a:lnSpc>
            </a:pPr>
            <a:r>
              <a:rPr kumimoji="1" lang="zh-CN" altLang="en-US" sz="2400" b="1" dirty="0"/>
              <a:t>形状 </a:t>
            </a:r>
            <a:r>
              <a:rPr kumimoji="1" lang="en-US" altLang="zh-CN" sz="2400" dirty="0"/>
              <a:t>(</a:t>
            </a:r>
            <a:r>
              <a:rPr kumimoji="1" lang="zh-CN" altLang="en-US" sz="2400" dirty="0"/>
              <a:t>即各维度长度</a:t>
            </a:r>
            <a:r>
              <a:rPr kumimoji="1" lang="en-US" altLang="zh-CN" sz="2400" dirty="0"/>
              <a:t>)</a:t>
            </a:r>
          </a:p>
          <a:p>
            <a:pPr lvl="1">
              <a:lnSpc>
                <a:spcPct val="120000"/>
              </a:lnSpc>
            </a:pPr>
            <a:r>
              <a:rPr kumimoji="1" lang="en-US" altLang="zh-CN" sz="19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(2,</a:t>
            </a:r>
            <a:r>
              <a:rPr kumimoji="1" lang="zh-CN" altLang="en-US" sz="19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9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2,</a:t>
            </a:r>
            <a:r>
              <a:rPr kumimoji="1" lang="zh-CN" altLang="en-US" sz="19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9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3)</a:t>
            </a:r>
          </a:p>
          <a:p>
            <a:pPr lvl="1">
              <a:lnSpc>
                <a:spcPct val="120000"/>
              </a:lnSpc>
            </a:pPr>
            <a:endParaRPr lang="en-US" altLang="zh-CN" sz="19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/>
              <a:t>索引</a:t>
            </a:r>
            <a:endParaRPr lang="en-US" altLang="zh-CN" sz="2400" b="1" dirty="0"/>
          </a:p>
          <a:p>
            <a:pPr lvl="1">
              <a:lnSpc>
                <a:spcPct val="120000"/>
              </a:lnSpc>
            </a:pPr>
            <a:r>
              <a:rPr lang="en-US" altLang="zh-CN" sz="19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x[0][0][0]</a:t>
            </a:r>
            <a:r>
              <a:rPr lang="zh-CN" altLang="en-US" sz="19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9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9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9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br>
              <a:rPr lang="en-US" altLang="zh-CN" sz="19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19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x[1][0][2]</a:t>
            </a:r>
            <a:r>
              <a:rPr lang="zh-CN" altLang="en-US" sz="19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9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9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9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</a:p>
          <a:p>
            <a:pPr lvl="1"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上面表示和索引，</a:t>
            </a:r>
            <a:br>
              <a:rPr lang="en-US" altLang="zh-CN" sz="2400" dirty="0"/>
            </a:br>
            <a:r>
              <a:rPr lang="zh-CN" altLang="en-US" sz="2400" dirty="0"/>
              <a:t>和 </a:t>
            </a:r>
            <a:r>
              <a:rPr lang="en-US" altLang="zh-CN" sz="2400" b="1" dirty="0"/>
              <a:t>Java</a:t>
            </a:r>
            <a:r>
              <a:rPr lang="zh-CN" altLang="en-US" sz="2400" b="1" dirty="0"/>
              <a:t>的多维数组</a:t>
            </a:r>
            <a:br>
              <a:rPr lang="en-US" altLang="zh-CN" sz="2400" b="1" dirty="0"/>
            </a:br>
            <a:r>
              <a:rPr lang="zh-CN" altLang="en-US" sz="2400" b="1" dirty="0"/>
              <a:t>是</a:t>
            </a:r>
            <a:r>
              <a:rPr lang="zh-CN" altLang="en-US" sz="2400" b="1" dirty="0">
                <a:solidFill>
                  <a:srgbClr val="00B050"/>
                </a:solidFill>
              </a:rPr>
              <a:t>一致的～</a:t>
            </a:r>
            <a:endParaRPr kumimoji="1" lang="en-US" altLang="zh-CN" sz="2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CAFB395-4DE9-A0A4-6C99-ACF0C4FABC5D}"/>
              </a:ext>
            </a:extLst>
          </p:cNvPr>
          <p:cNvSpPr txBox="1"/>
          <p:nvPr/>
        </p:nvSpPr>
        <p:spPr>
          <a:xfrm>
            <a:off x="4762780" y="1873425"/>
            <a:ext cx="3073277" cy="34163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en-US" altLang="zh-CN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>
              <a:lnSpc>
                <a:spcPct val="90000"/>
              </a:lnSpc>
            </a:pPr>
            <a:r>
              <a:rPr kumimoji="1" lang="zh-CN" alt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kumimoji="1" lang="en-US" altLang="zh-CN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>
              <a:lnSpc>
                <a:spcPct val="90000"/>
              </a:lnSpc>
            </a:pPr>
            <a:r>
              <a:rPr kumimoji="1" lang="zh-CN" altLang="en-US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1"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[1,</a:t>
            </a:r>
            <a:r>
              <a:rPr kumimoji="1" lang="zh-CN" altLang="en-US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2,</a:t>
            </a:r>
            <a:r>
              <a:rPr kumimoji="1" lang="zh-CN" altLang="en-US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3]</a:t>
            </a:r>
            <a:r>
              <a:rPr kumimoji="1" lang="en-US" altLang="zh-CN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</a:pPr>
            <a:r>
              <a:rPr kumimoji="1" lang="zh-CN" altLang="en-US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1"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[4,</a:t>
            </a:r>
            <a:r>
              <a:rPr kumimoji="1" lang="zh-CN" altLang="en-US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5,</a:t>
            </a:r>
            <a:r>
              <a:rPr kumimoji="1" lang="zh-CN" altLang="en-US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6]</a:t>
            </a:r>
            <a:r>
              <a:rPr kumimoji="1" lang="en-US" altLang="zh-CN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</a:pPr>
            <a:r>
              <a:rPr kumimoji="1" lang="zh-CN" alt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kumimoji="1" lang="en-US" altLang="zh-CN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kumimoji="1" lang="zh-CN" alt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kumimoji="1" lang="en-US" altLang="zh-CN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>
              <a:lnSpc>
                <a:spcPct val="90000"/>
              </a:lnSpc>
            </a:pPr>
            <a:r>
              <a:rPr kumimoji="1" lang="zh-CN" alt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1"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kumimoji="1" lang="zh-CN" altLang="en-US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7,</a:t>
            </a:r>
            <a:r>
              <a:rPr kumimoji="1" lang="zh-CN" altLang="en-US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kumimoji="1"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8,</a:t>
            </a:r>
            <a:r>
              <a:rPr kumimoji="1" lang="zh-CN" altLang="en-US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kumimoji="1"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9]</a:t>
            </a:r>
            <a:r>
              <a:rPr kumimoji="1" lang="en-US" altLang="zh-CN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</a:pPr>
            <a:r>
              <a:rPr kumimoji="1" lang="zh-CN" alt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1"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[10,</a:t>
            </a:r>
            <a:r>
              <a:rPr kumimoji="1" lang="zh-CN" altLang="en-US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11,</a:t>
            </a:r>
            <a:r>
              <a:rPr kumimoji="1" lang="zh-CN" altLang="en-US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12]</a:t>
            </a:r>
            <a:r>
              <a:rPr kumimoji="1" lang="en-US" altLang="zh-CN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</a:pPr>
            <a:r>
              <a:rPr kumimoji="1" lang="zh-CN" alt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kumimoji="1" lang="en-US" altLang="zh-CN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kumimoji="1" lang="zh-CN" altLang="en-US" sz="2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2FC148C-F518-808B-C55A-601B2D774E62}"/>
              </a:ext>
            </a:extLst>
          </p:cNvPr>
          <p:cNvGrpSpPr/>
          <p:nvPr/>
        </p:nvGrpSpPr>
        <p:grpSpPr>
          <a:xfrm>
            <a:off x="8653281" y="2850065"/>
            <a:ext cx="2074302" cy="1181591"/>
            <a:chOff x="4097134" y="5003338"/>
            <a:chExt cx="1241388" cy="708060"/>
          </a:xfrm>
        </p:grpSpPr>
        <p:graphicFrame>
          <p:nvGraphicFramePr>
            <p:cNvPr id="7" name="表格 5">
              <a:extLst>
                <a:ext uri="{FF2B5EF4-FFF2-40B4-BE49-F238E27FC236}">
                  <a16:creationId xmlns:a16="http://schemas.microsoft.com/office/drawing/2014/main" id="{12D2E392-0EB2-D9DE-9C6E-CDC14E3441B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457352" y="5003338"/>
            <a:ext cx="881170" cy="438358"/>
          </p:xfrm>
          <a:graphic>
            <a:graphicData uri="http://schemas.openxmlformats.org/drawingml/2006/table">
              <a:tbl>
                <a:tblPr bandRow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tableStyleId>{D7AC3CCA-C797-4891-BE02-D94E43425B78}</a:tableStyleId>
                </a:tblPr>
                <a:tblGrid>
                  <a:gridCol w="490798">
                    <a:extLst>
                      <a:ext uri="{9D8B030D-6E8A-4147-A177-3AD203B41FA5}">
                        <a16:colId xmlns:a16="http://schemas.microsoft.com/office/drawing/2014/main" val="3959134912"/>
                      </a:ext>
                    </a:extLst>
                  </a:gridCol>
                  <a:gridCol w="490798">
                    <a:extLst>
                      <a:ext uri="{9D8B030D-6E8A-4147-A177-3AD203B41FA5}">
                        <a16:colId xmlns:a16="http://schemas.microsoft.com/office/drawing/2014/main" val="1533543776"/>
                      </a:ext>
                    </a:extLst>
                  </a:gridCol>
                  <a:gridCol w="490798">
                    <a:extLst>
                      <a:ext uri="{9D8B030D-6E8A-4147-A177-3AD203B41FA5}">
                        <a16:colId xmlns:a16="http://schemas.microsoft.com/office/drawing/2014/main" val="1499652139"/>
                      </a:ext>
                    </a:extLst>
                  </a:gridCol>
                </a:tblGrid>
                <a:tr h="30133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7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8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9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extLst>
                    <a:ext uri="{0D108BD9-81ED-4DB2-BD59-A6C34878D82A}">
                      <a16:rowId xmlns:a16="http://schemas.microsoft.com/office/drawing/2014/main" val="2102569720"/>
                    </a:ext>
                  </a:extLst>
                </a:tr>
                <a:tr h="30133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10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11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12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extLst>
                    <a:ext uri="{0D108BD9-81ED-4DB2-BD59-A6C34878D82A}">
                      <a16:rowId xmlns:a16="http://schemas.microsoft.com/office/drawing/2014/main" val="1577057545"/>
                    </a:ext>
                  </a:extLst>
                </a:tr>
              </a:tbl>
            </a:graphicData>
          </a:graphic>
        </p:graphicFrame>
        <p:graphicFrame>
          <p:nvGraphicFramePr>
            <p:cNvPr id="8" name="表格 7">
              <a:extLst>
                <a:ext uri="{FF2B5EF4-FFF2-40B4-BE49-F238E27FC236}">
                  <a16:creationId xmlns:a16="http://schemas.microsoft.com/office/drawing/2014/main" id="{A0FB9258-3405-6B14-B227-15D90E15636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097134" y="5273040"/>
            <a:ext cx="881170" cy="438358"/>
          </p:xfrm>
          <a:graphic>
            <a:graphicData uri="http://schemas.openxmlformats.org/drawingml/2006/table">
              <a:tbl>
                <a:tblPr bandRow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tableStyleId>{D7AC3CCA-C797-4891-BE02-D94E43425B78}</a:tableStyleId>
                </a:tblPr>
                <a:tblGrid>
                  <a:gridCol w="490798">
                    <a:extLst>
                      <a:ext uri="{9D8B030D-6E8A-4147-A177-3AD203B41FA5}">
                        <a16:colId xmlns:a16="http://schemas.microsoft.com/office/drawing/2014/main" val="3959134912"/>
                      </a:ext>
                    </a:extLst>
                  </a:gridCol>
                  <a:gridCol w="490798">
                    <a:extLst>
                      <a:ext uri="{9D8B030D-6E8A-4147-A177-3AD203B41FA5}">
                        <a16:colId xmlns:a16="http://schemas.microsoft.com/office/drawing/2014/main" val="1533543776"/>
                      </a:ext>
                    </a:extLst>
                  </a:gridCol>
                  <a:gridCol w="490798">
                    <a:extLst>
                      <a:ext uri="{9D8B030D-6E8A-4147-A177-3AD203B41FA5}">
                        <a16:colId xmlns:a16="http://schemas.microsoft.com/office/drawing/2014/main" val="1499652139"/>
                      </a:ext>
                    </a:extLst>
                  </a:gridCol>
                </a:tblGrid>
                <a:tr h="30133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1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2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3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extLst>
                    <a:ext uri="{0D108BD9-81ED-4DB2-BD59-A6C34878D82A}">
                      <a16:rowId xmlns:a16="http://schemas.microsoft.com/office/drawing/2014/main" val="2102569720"/>
                    </a:ext>
                  </a:extLst>
                </a:tr>
                <a:tr h="30133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4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5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6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extLst>
                    <a:ext uri="{0D108BD9-81ED-4DB2-BD59-A6C34878D82A}">
                      <a16:rowId xmlns:a16="http://schemas.microsoft.com/office/drawing/2014/main" val="1577057545"/>
                    </a:ext>
                  </a:extLst>
                </a:tr>
              </a:tbl>
            </a:graphicData>
          </a:graphic>
        </p:graphicFrame>
      </p:grp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F7F1CA14-DE04-15B6-4402-CEC1723B74E3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8347214" y="1504089"/>
            <a:ext cx="2518638" cy="492443"/>
          </a:xfr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kumimoji="1" lang="zh-CN" altLang="en-US" dirty="0"/>
              <a:t>可以可视化成：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3051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F2BF61-3463-B962-11DF-AA4088A1E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多维数据的 表示 与 索引 </a:t>
            </a:r>
            <a:r>
              <a:rPr kumimoji="1" lang="en-US" altLang="zh-CN" dirty="0"/>
              <a:t>cont.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D74612-A111-1598-B034-90CE2FB38A6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86513" y="4323176"/>
            <a:ext cx="2567709" cy="160712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sz="1800" dirty="0"/>
              <a:t>形状</a:t>
            </a:r>
            <a:endParaRPr lang="en-US" altLang="zh-CN" sz="1800" dirty="0"/>
          </a:p>
          <a:p>
            <a:pPr lvl="1">
              <a:lnSpc>
                <a:spcPct val="120000"/>
              </a:lnSpc>
            </a:pPr>
            <a:r>
              <a:rPr kumimoji="1" lang="en-US" altLang="zh-CN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(2,</a:t>
            </a:r>
            <a:r>
              <a:rPr kumimoji="1" lang="zh-CN" alt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2,</a:t>
            </a:r>
            <a:r>
              <a:rPr kumimoji="1" lang="zh-CN" alt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3)</a:t>
            </a:r>
            <a:endParaRPr lang="en-US" altLang="zh-CN" sz="16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800" dirty="0"/>
              <a:t>索引</a:t>
            </a:r>
            <a:endParaRPr lang="en-US" altLang="zh-CN" sz="1800" dirty="0"/>
          </a:p>
          <a:p>
            <a:pPr lvl="1">
              <a:lnSpc>
                <a:spcPct val="12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x[0][0][0]</a:t>
            </a:r>
            <a:r>
              <a:rPr lang="zh-CN" alt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br>
              <a:rPr lang="en-US" altLang="zh-CN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x[1][0][2]</a:t>
            </a:r>
            <a:r>
              <a:rPr lang="zh-CN" alt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endParaRPr kumimoji="1" lang="en-US" altLang="zh-CN" sz="160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A4842F-EA37-7931-7A4A-317C86DFE20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3694546" y="1216152"/>
            <a:ext cx="7870582" cy="493776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kumimoji="1" lang="zh-CN" altLang="en-US" dirty="0"/>
              <a:t>关于 表示与索引 一些要注意的：</a:t>
            </a:r>
            <a:br>
              <a:rPr kumimoji="1" lang="en-US" altLang="zh-CN" dirty="0"/>
            </a:br>
            <a:r>
              <a:rPr kumimoji="1" lang="en-US" altLang="zh-CN" sz="1900" dirty="0"/>
              <a:t>(</a:t>
            </a:r>
            <a:r>
              <a:rPr kumimoji="1" lang="zh-CN" altLang="en-US" sz="1900" dirty="0"/>
              <a:t>或说容易让人混乱的地方</a:t>
            </a:r>
            <a:r>
              <a:rPr kumimoji="1" lang="en-US" altLang="zh-CN" sz="19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zh-CN" altLang="en-US" sz="1900" dirty="0"/>
              <a:t> </a:t>
            </a:r>
            <a:endParaRPr kumimoji="1" lang="en-US" altLang="zh-CN" dirty="0"/>
          </a:p>
          <a:p>
            <a:pPr>
              <a:lnSpc>
                <a:spcPct val="120000"/>
              </a:lnSpc>
            </a:pPr>
            <a:r>
              <a:rPr kumimoji="1" lang="zh-CN" altLang="en-US" dirty="0"/>
              <a:t>不同数组维度 也会说成 </a:t>
            </a:r>
            <a:r>
              <a:rPr kumimoji="1" lang="zh-CN" altLang="en-US" b="1" dirty="0"/>
              <a:t>轴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 lvl="1">
              <a:lnSpc>
                <a:spcPct val="120000"/>
              </a:lnSpc>
            </a:pPr>
            <a:r>
              <a:rPr kumimoji="1" lang="zh-CN" altLang="en-US" b="1" dirty="0"/>
              <a:t>几何</a:t>
            </a:r>
            <a:r>
              <a:rPr kumimoji="1" lang="zh-CN" altLang="en-US" dirty="0"/>
              <a:t>方式里的 </a:t>
            </a:r>
            <a:r>
              <a:rPr kumimoji="1" lang="en-US" altLang="zh-CN" i="1" dirty="0">
                <a:latin typeface="InaiMathi" pitchFamily="2" charset="0"/>
                <a:cs typeface="InaiMathi" pitchFamily="2" charset="0"/>
              </a:rPr>
              <a:t>x</a:t>
            </a:r>
            <a:r>
              <a:rPr kumimoji="1" lang="zh-CN" altLang="en-US" i="1" dirty="0">
                <a:latin typeface="InaiMathi" pitchFamily="2" charset="0"/>
                <a:cs typeface="InaiMathi" pitchFamily="2" charset="0"/>
              </a:rPr>
              <a:t> </a:t>
            </a:r>
            <a:r>
              <a:rPr kumimoji="1" lang="zh-CN" altLang="en-US" dirty="0"/>
              <a:t>轴、</a:t>
            </a:r>
            <a:r>
              <a:rPr kumimoji="1" lang="en-US" altLang="zh-CN" i="1" dirty="0">
                <a:latin typeface="InaiMathi" pitchFamily="2" charset="0"/>
                <a:cs typeface="InaiMathi" pitchFamily="2" charset="0"/>
              </a:rPr>
              <a:t>y</a:t>
            </a:r>
            <a:r>
              <a:rPr kumimoji="1" lang="zh-CN" altLang="en-US" dirty="0">
                <a:latin typeface="InaiMathi" pitchFamily="2" charset="0"/>
                <a:cs typeface="InaiMathi" pitchFamily="2" charset="0"/>
              </a:rPr>
              <a:t> </a:t>
            </a:r>
            <a:r>
              <a:rPr kumimoji="1" lang="zh-CN" altLang="en-US" dirty="0"/>
              <a:t>轴、</a:t>
            </a:r>
            <a:r>
              <a:rPr kumimoji="1" lang="en-US" altLang="zh-CN" i="1" dirty="0">
                <a:latin typeface="InaiMathi" pitchFamily="2" charset="0"/>
                <a:cs typeface="InaiMathi" pitchFamily="2" charset="0"/>
              </a:rPr>
              <a:t>z</a:t>
            </a:r>
            <a:r>
              <a:rPr kumimoji="1" lang="zh-CN" altLang="en-US" dirty="0">
                <a:latin typeface="InaiMathi" pitchFamily="2" charset="0"/>
                <a:cs typeface="InaiMathi" pitchFamily="2" charset="0"/>
              </a:rPr>
              <a:t> </a:t>
            </a:r>
            <a:r>
              <a:rPr kumimoji="1" lang="zh-CN" altLang="en-US" dirty="0"/>
              <a:t>轴</a:t>
            </a:r>
            <a:endParaRPr kumimoji="1" lang="en-US" altLang="zh-CN" dirty="0"/>
          </a:p>
          <a:p>
            <a:pPr lvl="1">
              <a:lnSpc>
                <a:spcPct val="120000"/>
              </a:lnSpc>
            </a:pPr>
            <a:r>
              <a:rPr kumimoji="1" lang="zh-CN" altLang="en-US" sz="2000" dirty="0"/>
              <a:t>之前的 可以认为 是 </a:t>
            </a:r>
            <a:br>
              <a:rPr kumimoji="1" lang="en-US" altLang="zh-CN" sz="2000" dirty="0"/>
            </a:br>
            <a:r>
              <a:rPr kumimoji="1" lang="zh-CN" altLang="en-US" sz="2000" b="1" dirty="0"/>
              <a:t>代数</a:t>
            </a:r>
            <a:r>
              <a:rPr kumimoji="1" lang="en-US" altLang="zh-CN" sz="2000" b="1" dirty="0"/>
              <a:t>/</a:t>
            </a:r>
            <a:r>
              <a:rPr kumimoji="1" lang="zh-CN" altLang="en-US" sz="2000" b="1" dirty="0"/>
              <a:t>代码</a:t>
            </a:r>
            <a:r>
              <a:rPr kumimoji="1" lang="zh-CN" altLang="en-US" sz="2000" dirty="0"/>
              <a:t>方式</a:t>
            </a:r>
            <a:r>
              <a:rPr kumimoji="1" lang="en-US" altLang="zh-CN" sz="2000" dirty="0"/>
              <a:t>(</a:t>
            </a:r>
            <a:r>
              <a:rPr kumimoji="1" lang="zh-CN" altLang="en-US" sz="2000" dirty="0"/>
              <a:t>表达</a:t>
            </a:r>
            <a:r>
              <a:rPr kumimoji="1" lang="en-US" altLang="zh-CN" sz="2000" dirty="0"/>
              <a:t>/</a:t>
            </a:r>
            <a:r>
              <a:rPr kumimoji="1" lang="zh-CN" altLang="en-US" sz="2000" dirty="0"/>
              <a:t>索引</a:t>
            </a:r>
            <a:r>
              <a:rPr kumimoji="1" lang="en-US" altLang="zh-CN" sz="2000" dirty="0"/>
              <a:t>)</a:t>
            </a:r>
          </a:p>
          <a:p>
            <a:pPr>
              <a:lnSpc>
                <a:spcPct val="120000"/>
              </a:lnSpc>
            </a:pPr>
            <a:endParaRPr kumimoji="1" lang="en-US" altLang="zh-CN" dirty="0"/>
          </a:p>
          <a:p>
            <a:pPr>
              <a:lnSpc>
                <a:spcPct val="120000"/>
              </a:lnSpc>
            </a:pPr>
            <a:r>
              <a:rPr kumimoji="1" lang="zh-CN" altLang="en-US" dirty="0"/>
              <a:t>要注意的轴顺序：</a:t>
            </a:r>
            <a:endParaRPr kumimoji="1" lang="en-US" altLang="zh-CN" dirty="0"/>
          </a:p>
          <a:p>
            <a:pPr lvl="1">
              <a:lnSpc>
                <a:spcPct val="120000"/>
              </a:lnSpc>
            </a:pPr>
            <a:r>
              <a:rPr kumimoji="1" lang="zh-CN" altLang="en-US" dirty="0"/>
              <a:t>几何方式时，轴</a:t>
            </a:r>
            <a:r>
              <a:rPr kumimoji="1" lang="en-US" altLang="zh-CN" dirty="0"/>
              <a:t>/</a:t>
            </a:r>
            <a:r>
              <a:rPr kumimoji="1" lang="zh-CN" altLang="en-US" dirty="0"/>
              <a:t>维度 的顺序是 </a:t>
            </a:r>
            <a:br>
              <a:rPr kumimoji="1" lang="en-US" altLang="zh-CN" dirty="0"/>
            </a:br>
            <a:r>
              <a:rPr kumimoji="1" lang="zh-CN" altLang="en-US" dirty="0"/>
              <a:t>由小到大，</a:t>
            </a:r>
            <a:r>
              <a:rPr kumimoji="1" lang="en-US" altLang="zh-CN" i="1" dirty="0">
                <a:latin typeface="InaiMathi" pitchFamily="2" charset="0"/>
                <a:cs typeface="InaiMathi" pitchFamily="2" charset="0"/>
              </a:rPr>
              <a:t>x</a:t>
            </a:r>
            <a:r>
              <a:rPr kumimoji="1" lang="zh-CN" altLang="en-US" i="1" dirty="0">
                <a:latin typeface="InaiMathi" pitchFamily="2" charset="0"/>
                <a:cs typeface="InaiMathi" pitchFamily="2" charset="0"/>
              </a:rPr>
              <a:t> </a:t>
            </a:r>
            <a:r>
              <a:rPr kumimoji="1" lang="en-US" altLang="zh-CN" i="1" dirty="0">
                <a:latin typeface="InaiMathi" pitchFamily="2" charset="0"/>
                <a:cs typeface="InaiMathi" pitchFamily="2" charset="0"/>
              </a:rPr>
              <a:t>-&gt;</a:t>
            </a:r>
            <a:r>
              <a:rPr kumimoji="1" lang="zh-CN" altLang="en-US" i="1" dirty="0">
                <a:latin typeface="InaiMathi" pitchFamily="2" charset="0"/>
                <a:cs typeface="InaiMathi" pitchFamily="2" charset="0"/>
              </a:rPr>
              <a:t> </a:t>
            </a:r>
            <a:r>
              <a:rPr kumimoji="1" lang="en-US" altLang="zh-CN" i="1" dirty="0">
                <a:latin typeface="InaiMathi" pitchFamily="2" charset="0"/>
                <a:cs typeface="InaiMathi" pitchFamily="2" charset="0"/>
              </a:rPr>
              <a:t>y</a:t>
            </a:r>
            <a:r>
              <a:rPr kumimoji="1" lang="zh-CN" altLang="en-US" i="1" dirty="0">
                <a:latin typeface="InaiMathi" pitchFamily="2" charset="0"/>
                <a:cs typeface="InaiMathi" pitchFamily="2" charset="0"/>
              </a:rPr>
              <a:t> </a:t>
            </a:r>
            <a:r>
              <a:rPr kumimoji="1" lang="en-US" altLang="zh-CN" i="1" dirty="0">
                <a:latin typeface="InaiMathi" pitchFamily="2" charset="0"/>
                <a:cs typeface="InaiMathi" pitchFamily="2" charset="0"/>
              </a:rPr>
              <a:t>-&gt;</a:t>
            </a:r>
            <a:r>
              <a:rPr kumimoji="1" lang="zh-CN" altLang="en-US" i="1" dirty="0">
                <a:latin typeface="InaiMathi" pitchFamily="2" charset="0"/>
                <a:cs typeface="InaiMathi" pitchFamily="2" charset="0"/>
              </a:rPr>
              <a:t> </a:t>
            </a:r>
            <a:r>
              <a:rPr kumimoji="1" lang="en-US" altLang="zh-CN" i="1" dirty="0">
                <a:latin typeface="InaiMathi" pitchFamily="2" charset="0"/>
                <a:cs typeface="InaiMathi" pitchFamily="2" charset="0"/>
              </a:rPr>
              <a:t>z</a:t>
            </a:r>
            <a:endParaRPr kumimoji="1" lang="en-US" altLang="zh-CN" i="1" dirty="0"/>
          </a:p>
          <a:p>
            <a:pPr lvl="1">
              <a:lnSpc>
                <a:spcPct val="120000"/>
              </a:lnSpc>
            </a:pPr>
            <a:r>
              <a:rPr kumimoji="1" lang="zh-CN" altLang="en-US" dirty="0"/>
              <a:t>代码方式时，轴</a:t>
            </a:r>
            <a:r>
              <a:rPr kumimoji="1" lang="en-US" altLang="zh-CN" dirty="0"/>
              <a:t>/</a:t>
            </a:r>
            <a:r>
              <a:rPr kumimoji="1" lang="zh-CN" altLang="en-US" dirty="0"/>
              <a:t>维度 的顺序是 </a:t>
            </a:r>
            <a:br>
              <a:rPr kumimoji="1" lang="en-US" altLang="zh-CN" dirty="0"/>
            </a:br>
            <a:r>
              <a:rPr kumimoji="1" lang="zh-CN" altLang="en-US" dirty="0"/>
              <a:t>由大到小到，</a:t>
            </a:r>
            <a:r>
              <a:rPr kumimoji="1" lang="en-US" altLang="zh-CN" i="1" dirty="0">
                <a:latin typeface="InaiMathi" pitchFamily="2" charset="0"/>
                <a:cs typeface="InaiMathi" pitchFamily="2" charset="0"/>
              </a:rPr>
              <a:t>z</a:t>
            </a:r>
            <a:r>
              <a:rPr kumimoji="1" lang="zh-CN" altLang="en-US" i="1" dirty="0">
                <a:latin typeface="InaiMathi" pitchFamily="2" charset="0"/>
                <a:cs typeface="InaiMathi" pitchFamily="2" charset="0"/>
              </a:rPr>
              <a:t> </a:t>
            </a:r>
            <a:r>
              <a:rPr kumimoji="1" lang="en-US" altLang="zh-CN" i="1" dirty="0">
                <a:latin typeface="InaiMathi" pitchFamily="2" charset="0"/>
                <a:cs typeface="InaiMathi" pitchFamily="2" charset="0"/>
              </a:rPr>
              <a:t>-&gt;</a:t>
            </a:r>
            <a:r>
              <a:rPr kumimoji="1" lang="zh-CN" altLang="en-US" i="1" dirty="0">
                <a:latin typeface="InaiMathi" pitchFamily="2" charset="0"/>
                <a:cs typeface="InaiMathi" pitchFamily="2" charset="0"/>
              </a:rPr>
              <a:t> </a:t>
            </a:r>
            <a:r>
              <a:rPr kumimoji="1" lang="en-US" altLang="zh-CN" i="1" dirty="0">
                <a:latin typeface="InaiMathi" pitchFamily="2" charset="0"/>
                <a:cs typeface="InaiMathi" pitchFamily="2" charset="0"/>
              </a:rPr>
              <a:t>y</a:t>
            </a:r>
            <a:r>
              <a:rPr kumimoji="1" lang="zh-CN" altLang="en-US" i="1" dirty="0">
                <a:latin typeface="InaiMathi" pitchFamily="2" charset="0"/>
                <a:cs typeface="InaiMathi" pitchFamily="2" charset="0"/>
              </a:rPr>
              <a:t> </a:t>
            </a:r>
            <a:r>
              <a:rPr kumimoji="1" lang="en-US" altLang="zh-CN" i="1" dirty="0">
                <a:latin typeface="InaiMathi" pitchFamily="2" charset="0"/>
                <a:cs typeface="InaiMathi" pitchFamily="2" charset="0"/>
              </a:rPr>
              <a:t>-&gt;</a:t>
            </a:r>
            <a:r>
              <a:rPr kumimoji="1" lang="zh-CN" altLang="en-US" i="1" dirty="0">
                <a:latin typeface="InaiMathi" pitchFamily="2" charset="0"/>
                <a:cs typeface="InaiMathi" pitchFamily="2" charset="0"/>
              </a:rPr>
              <a:t> </a:t>
            </a:r>
            <a:r>
              <a:rPr kumimoji="1" lang="en-US" altLang="zh-CN" i="1" dirty="0">
                <a:latin typeface="InaiMathi" pitchFamily="2" charset="0"/>
                <a:cs typeface="InaiMathi" pitchFamily="2" charset="0"/>
              </a:rPr>
              <a:t>x</a:t>
            </a:r>
          </a:p>
          <a:p>
            <a:pPr lvl="1">
              <a:lnSpc>
                <a:spcPct val="120000"/>
              </a:lnSpc>
            </a:pPr>
            <a:r>
              <a:rPr kumimoji="1" lang="zh-CN" altLang="en-US" dirty="0"/>
              <a:t>两者 </a:t>
            </a:r>
            <a:r>
              <a:rPr kumimoji="1" lang="zh-CN" altLang="en-US" b="1" dirty="0">
                <a:solidFill>
                  <a:srgbClr val="C00000"/>
                </a:solidFill>
              </a:rPr>
              <a:t>顺序相反！</a:t>
            </a:r>
            <a:br>
              <a:rPr kumimoji="1" lang="en-US" altLang="zh-CN" dirty="0"/>
            </a:br>
            <a:r>
              <a:rPr kumimoji="1" lang="zh-CN" altLang="en-US" dirty="0"/>
              <a:t>即 </a:t>
            </a:r>
            <a:r>
              <a:rPr kumimoji="1" lang="en-US" altLang="zh-CN" i="1" dirty="0">
                <a:latin typeface="InaiMathi" pitchFamily="2" charset="0"/>
                <a:cs typeface="InaiMathi" pitchFamily="2" charset="0"/>
              </a:rPr>
              <a:t>z</a:t>
            </a:r>
            <a:r>
              <a:rPr kumimoji="1" lang="zh-CN" altLang="en-US" dirty="0">
                <a:latin typeface="InaiMathi" pitchFamily="2" charset="0"/>
                <a:cs typeface="InaiMathi" pitchFamily="2" charset="0"/>
              </a:rPr>
              <a:t> </a:t>
            </a:r>
            <a:r>
              <a:rPr kumimoji="1" lang="zh-CN" altLang="en-US" dirty="0"/>
              <a:t>轴是 </a:t>
            </a:r>
            <a:r>
              <a:rPr kumimoji="1" lang="en-US" altLang="zh-CN" dirty="0"/>
              <a:t>0</a:t>
            </a:r>
            <a:r>
              <a:rPr kumimoji="1" lang="zh-CN" altLang="en-US" dirty="0"/>
              <a:t>轴，</a:t>
            </a:r>
            <a:r>
              <a:rPr kumimoji="1" lang="en-US" altLang="zh-CN" i="1" dirty="0">
                <a:latin typeface="InaiMathi" pitchFamily="2" charset="0"/>
                <a:cs typeface="InaiMathi" pitchFamily="2" charset="0"/>
              </a:rPr>
              <a:t> z</a:t>
            </a:r>
            <a:r>
              <a:rPr kumimoji="1" lang="zh-CN" altLang="en-US" dirty="0">
                <a:latin typeface="InaiMathi" pitchFamily="2" charset="0"/>
                <a:cs typeface="InaiMathi" pitchFamily="2" charset="0"/>
              </a:rPr>
              <a:t> </a:t>
            </a:r>
            <a:r>
              <a:rPr kumimoji="1" lang="zh-CN" altLang="en-US" dirty="0"/>
              <a:t>轴是 </a:t>
            </a:r>
            <a:r>
              <a:rPr kumimoji="1" lang="en-US" altLang="zh-CN" dirty="0"/>
              <a:t>1</a:t>
            </a:r>
            <a:r>
              <a:rPr kumimoji="1" lang="zh-CN" altLang="en-US" dirty="0"/>
              <a:t>轴，</a:t>
            </a:r>
            <a:r>
              <a:rPr kumimoji="1" lang="en-US" altLang="zh-CN" i="1" dirty="0">
                <a:latin typeface="InaiMathi" pitchFamily="2" charset="0"/>
                <a:cs typeface="InaiMathi" pitchFamily="2" charset="0"/>
              </a:rPr>
              <a:t> </a:t>
            </a:r>
            <a:r>
              <a:rPr kumimoji="1" lang="en-US" altLang="zh-CN" b="1" i="1" dirty="0">
                <a:solidFill>
                  <a:srgbClr val="FF0000"/>
                </a:solidFill>
                <a:latin typeface="InaiMathi" pitchFamily="2" charset="0"/>
                <a:cs typeface="InaiMathi" pitchFamily="2" charset="0"/>
              </a:rPr>
              <a:t>x</a:t>
            </a:r>
            <a:r>
              <a:rPr kumimoji="1" lang="zh-CN" altLang="en-US" b="1" i="1" dirty="0">
                <a:solidFill>
                  <a:srgbClr val="FF0000"/>
                </a:solidFill>
                <a:latin typeface="InaiMathi" pitchFamily="2" charset="0"/>
                <a:cs typeface="InaiMathi" pitchFamily="2" charset="0"/>
              </a:rPr>
              <a:t> </a:t>
            </a:r>
            <a:r>
              <a:rPr kumimoji="1" lang="zh-CN" altLang="en-US" b="1" dirty="0">
                <a:solidFill>
                  <a:srgbClr val="FF0000"/>
                </a:solidFill>
              </a:rPr>
              <a:t>轴 是 </a:t>
            </a:r>
            <a:r>
              <a:rPr kumimoji="1" lang="en-US" altLang="zh-CN" b="1" dirty="0">
                <a:solidFill>
                  <a:srgbClr val="FF0000"/>
                </a:solidFill>
              </a:rPr>
              <a:t>2</a:t>
            </a:r>
            <a:r>
              <a:rPr kumimoji="1" lang="zh-CN" altLang="en-US" b="1" dirty="0">
                <a:solidFill>
                  <a:srgbClr val="FF0000"/>
                </a:solidFill>
              </a:rPr>
              <a:t>轴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>
              <a:lnSpc>
                <a:spcPct val="120000"/>
              </a:lnSpc>
            </a:pPr>
            <a:endParaRPr kumimoji="1"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CAFB395-4DE9-A0A4-6C99-ACF0C4FABC5D}"/>
              </a:ext>
            </a:extLst>
          </p:cNvPr>
          <p:cNvSpPr txBox="1"/>
          <p:nvPr/>
        </p:nvSpPr>
        <p:spPr>
          <a:xfrm>
            <a:off x="586513" y="1415944"/>
            <a:ext cx="2337499" cy="2585323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>
              <a:lnSpc>
                <a:spcPct val="90000"/>
              </a:lnSpc>
            </a:pPr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kumimoji="1" lang="en-US" altLang="zh-CN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>
              <a:lnSpc>
                <a:spcPct val="90000"/>
              </a:lnSpc>
            </a:pPr>
            <a:r>
              <a:rPr kumimoji="1" lang="zh-CN" alt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[1,</a:t>
            </a:r>
            <a:r>
              <a:rPr kumimoji="1" lang="zh-CN" alt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2,</a:t>
            </a:r>
            <a:r>
              <a:rPr kumimoji="1" lang="zh-CN" alt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3]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</a:pPr>
            <a:r>
              <a:rPr kumimoji="1" lang="zh-CN" alt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[4,</a:t>
            </a:r>
            <a:r>
              <a:rPr kumimoji="1" lang="zh-CN" alt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5,</a:t>
            </a:r>
            <a:r>
              <a:rPr kumimoji="1" lang="zh-CN" alt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6]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</a:pPr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kumimoji="1" lang="en-US" altLang="zh-CN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kumimoji="1" lang="zh-CN" alt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kumimoji="1" lang="en-US" altLang="zh-CN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>
              <a:lnSpc>
                <a:spcPct val="90000"/>
              </a:lnSpc>
            </a:pPr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kumimoji="1" lang="zh-CN" alt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7,</a:t>
            </a:r>
            <a:r>
              <a:rPr kumimoji="1" lang="zh-CN" alt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8,</a:t>
            </a:r>
            <a:r>
              <a:rPr kumimoji="1" lang="zh-CN" alt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9]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</a:pPr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[10,</a:t>
            </a:r>
            <a:r>
              <a:rPr kumimoji="1" lang="zh-CN" alt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11,</a:t>
            </a:r>
            <a:r>
              <a:rPr kumimoji="1" lang="zh-CN" alt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12]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</a:pPr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kumimoji="1" lang="en-US" altLang="zh-CN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kumimoji="1" lang="zh-CN" alt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69D01BC-CF25-6587-059B-C7D3DF87267E}"/>
              </a:ext>
            </a:extLst>
          </p:cNvPr>
          <p:cNvGrpSpPr/>
          <p:nvPr/>
        </p:nvGrpSpPr>
        <p:grpSpPr>
          <a:xfrm>
            <a:off x="9518878" y="2242667"/>
            <a:ext cx="1832612" cy="1001222"/>
            <a:chOff x="4097134" y="5003338"/>
            <a:chExt cx="1832612" cy="1001222"/>
          </a:xfrm>
        </p:grpSpPr>
        <p:graphicFrame>
          <p:nvGraphicFramePr>
            <p:cNvPr id="13" name="表格 5">
              <a:extLst>
                <a:ext uri="{FF2B5EF4-FFF2-40B4-BE49-F238E27FC236}">
                  <a16:creationId xmlns:a16="http://schemas.microsoft.com/office/drawing/2014/main" id="{247ACF47-97A3-744F-83C9-920B83D5695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45745367"/>
                </p:ext>
              </p:extLst>
            </p:nvPr>
          </p:nvGraphicFramePr>
          <p:xfrm>
            <a:off x="4457352" y="5003338"/>
            <a:ext cx="1472394" cy="731520"/>
          </p:xfrm>
          <a:graphic>
            <a:graphicData uri="http://schemas.openxmlformats.org/drawingml/2006/table">
              <a:tbl>
                <a:tblPr bandRow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tableStyleId>{D7AC3CCA-C797-4891-BE02-D94E43425B78}</a:tableStyleId>
                </a:tblPr>
                <a:tblGrid>
                  <a:gridCol w="490798">
                    <a:extLst>
                      <a:ext uri="{9D8B030D-6E8A-4147-A177-3AD203B41FA5}">
                        <a16:colId xmlns:a16="http://schemas.microsoft.com/office/drawing/2014/main" val="3959134912"/>
                      </a:ext>
                    </a:extLst>
                  </a:gridCol>
                  <a:gridCol w="490798">
                    <a:extLst>
                      <a:ext uri="{9D8B030D-6E8A-4147-A177-3AD203B41FA5}">
                        <a16:colId xmlns:a16="http://schemas.microsoft.com/office/drawing/2014/main" val="1533543776"/>
                      </a:ext>
                    </a:extLst>
                  </a:gridCol>
                  <a:gridCol w="490798">
                    <a:extLst>
                      <a:ext uri="{9D8B030D-6E8A-4147-A177-3AD203B41FA5}">
                        <a16:colId xmlns:a16="http://schemas.microsoft.com/office/drawing/2014/main" val="1499652139"/>
                      </a:ext>
                    </a:extLst>
                  </a:gridCol>
                </a:tblGrid>
                <a:tr h="30133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7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8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9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extLst>
                    <a:ext uri="{0D108BD9-81ED-4DB2-BD59-A6C34878D82A}">
                      <a16:rowId xmlns:a16="http://schemas.microsoft.com/office/drawing/2014/main" val="2102569720"/>
                    </a:ext>
                  </a:extLst>
                </a:tr>
                <a:tr h="30133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10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11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12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extLst>
                    <a:ext uri="{0D108BD9-81ED-4DB2-BD59-A6C34878D82A}">
                      <a16:rowId xmlns:a16="http://schemas.microsoft.com/office/drawing/2014/main" val="1577057545"/>
                    </a:ext>
                  </a:extLst>
                </a:tr>
              </a:tbl>
            </a:graphicData>
          </a:graphic>
        </p:graphicFrame>
        <p:graphicFrame>
          <p:nvGraphicFramePr>
            <p:cNvPr id="14" name="表格 13">
              <a:extLst>
                <a:ext uri="{FF2B5EF4-FFF2-40B4-BE49-F238E27FC236}">
                  <a16:creationId xmlns:a16="http://schemas.microsoft.com/office/drawing/2014/main" id="{9C17473D-E5ED-BAD9-EE59-CE69F1ECE35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34023113"/>
                </p:ext>
              </p:extLst>
            </p:nvPr>
          </p:nvGraphicFramePr>
          <p:xfrm>
            <a:off x="4097134" y="5273040"/>
            <a:ext cx="1472394" cy="731520"/>
          </p:xfrm>
          <a:graphic>
            <a:graphicData uri="http://schemas.openxmlformats.org/drawingml/2006/table">
              <a:tbl>
                <a:tblPr bandRow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tableStyleId>{D7AC3CCA-C797-4891-BE02-D94E43425B78}</a:tableStyleId>
                </a:tblPr>
                <a:tblGrid>
                  <a:gridCol w="490798">
                    <a:extLst>
                      <a:ext uri="{9D8B030D-6E8A-4147-A177-3AD203B41FA5}">
                        <a16:colId xmlns:a16="http://schemas.microsoft.com/office/drawing/2014/main" val="3959134912"/>
                      </a:ext>
                    </a:extLst>
                  </a:gridCol>
                  <a:gridCol w="490798">
                    <a:extLst>
                      <a:ext uri="{9D8B030D-6E8A-4147-A177-3AD203B41FA5}">
                        <a16:colId xmlns:a16="http://schemas.microsoft.com/office/drawing/2014/main" val="1533543776"/>
                      </a:ext>
                    </a:extLst>
                  </a:gridCol>
                  <a:gridCol w="490798">
                    <a:extLst>
                      <a:ext uri="{9D8B030D-6E8A-4147-A177-3AD203B41FA5}">
                        <a16:colId xmlns:a16="http://schemas.microsoft.com/office/drawing/2014/main" val="1499652139"/>
                      </a:ext>
                    </a:extLst>
                  </a:gridCol>
                </a:tblGrid>
                <a:tr h="30133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1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2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3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extLst>
                    <a:ext uri="{0D108BD9-81ED-4DB2-BD59-A6C34878D82A}">
                      <a16:rowId xmlns:a16="http://schemas.microsoft.com/office/drawing/2014/main" val="2102569720"/>
                    </a:ext>
                  </a:extLst>
                </a:tr>
                <a:tr h="30133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4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5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6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extLst>
                    <a:ext uri="{0D108BD9-81ED-4DB2-BD59-A6C34878D82A}">
                      <a16:rowId xmlns:a16="http://schemas.microsoft.com/office/drawing/2014/main" val="1577057545"/>
                    </a:ext>
                  </a:extLst>
                </a:tr>
              </a:tbl>
            </a:graphicData>
          </a:graphic>
        </p:graphicFrame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FA5220C-9CED-9E52-48A1-FF6B4F28A373}"/>
              </a:ext>
            </a:extLst>
          </p:cNvPr>
          <p:cNvGrpSpPr/>
          <p:nvPr/>
        </p:nvGrpSpPr>
        <p:grpSpPr>
          <a:xfrm>
            <a:off x="8487050" y="2110681"/>
            <a:ext cx="1020770" cy="1210671"/>
            <a:chOff x="7937180" y="4176779"/>
            <a:chExt cx="1020770" cy="1210671"/>
          </a:xfrm>
        </p:grpSpPr>
        <p:cxnSp>
          <p:nvCxnSpPr>
            <p:cNvPr id="16" name="直线箭头连接符 15">
              <a:extLst>
                <a:ext uri="{FF2B5EF4-FFF2-40B4-BE49-F238E27FC236}">
                  <a16:creationId xmlns:a16="http://schemas.microsoft.com/office/drawing/2014/main" id="{E1E31001-74BB-654F-7820-073FF93D51A7}"/>
                </a:ext>
              </a:extLst>
            </p:cNvPr>
            <p:cNvCxnSpPr>
              <a:cxnSpLocks/>
            </p:cNvCxnSpPr>
            <p:nvPr/>
          </p:nvCxnSpPr>
          <p:spPr>
            <a:xfrm>
              <a:off x="7937180" y="4724774"/>
              <a:ext cx="720000" cy="0"/>
            </a:xfrm>
            <a:prstGeom prst="straightConnector1">
              <a:avLst/>
            </a:prstGeom>
            <a:ln w="317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161133D-EE5B-96BB-BFA8-E394B7AB9107}"/>
                </a:ext>
              </a:extLst>
            </p:cNvPr>
            <p:cNvSpPr txBox="1"/>
            <p:nvPr/>
          </p:nvSpPr>
          <p:spPr>
            <a:xfrm>
              <a:off x="8601762" y="4521695"/>
              <a:ext cx="356188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en-US" altLang="zh-CN" i="1" dirty="0">
                  <a:latin typeface="InaiMathi" pitchFamily="2" charset="0"/>
                  <a:cs typeface="InaiMathi" pitchFamily="2" charset="0"/>
                </a:rPr>
                <a:t>x</a:t>
              </a:r>
              <a:r>
                <a:rPr kumimoji="1" lang="zh-CN" altLang="en-US" i="1" dirty="0">
                  <a:latin typeface="InaiMathi" pitchFamily="2" charset="0"/>
                  <a:cs typeface="InaiMathi" pitchFamily="2" charset="0"/>
                </a:rPr>
                <a:t> </a:t>
              </a:r>
              <a:endParaRPr lang="zh-CN" altLang="en-US" dirty="0"/>
            </a:p>
          </p:txBody>
        </p:sp>
        <p:cxnSp>
          <p:nvCxnSpPr>
            <p:cNvPr id="20" name="直线箭头连接符 19">
              <a:extLst>
                <a:ext uri="{FF2B5EF4-FFF2-40B4-BE49-F238E27FC236}">
                  <a16:creationId xmlns:a16="http://schemas.microsoft.com/office/drawing/2014/main" id="{236E9603-77C4-B1FC-9246-966882B79A29}"/>
                </a:ext>
              </a:extLst>
            </p:cNvPr>
            <p:cNvCxnSpPr>
              <a:cxnSpLocks/>
            </p:cNvCxnSpPr>
            <p:nvPr/>
          </p:nvCxnSpPr>
          <p:spPr>
            <a:xfrm>
              <a:off x="8106117" y="4540047"/>
              <a:ext cx="0" cy="720000"/>
            </a:xfrm>
            <a:prstGeom prst="straightConnector1">
              <a:avLst/>
            </a:prstGeom>
            <a:ln w="317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0E0D266-6E5F-338B-962A-110AB1F51F61}"/>
                </a:ext>
              </a:extLst>
            </p:cNvPr>
            <p:cNvSpPr txBox="1"/>
            <p:nvPr/>
          </p:nvSpPr>
          <p:spPr>
            <a:xfrm>
              <a:off x="8078210" y="5018118"/>
              <a:ext cx="425116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en-US" altLang="zh-CN" i="1" dirty="0">
                  <a:latin typeface="InaiMathi" pitchFamily="2" charset="0"/>
                  <a:cs typeface="InaiMathi" pitchFamily="2" charset="0"/>
                </a:rPr>
                <a:t>y</a:t>
              </a:r>
              <a:r>
                <a:rPr kumimoji="1" lang="zh-CN" altLang="en-US" i="1" dirty="0">
                  <a:latin typeface="InaiMathi" pitchFamily="2" charset="0"/>
                  <a:cs typeface="InaiMathi" pitchFamily="2" charset="0"/>
                </a:rPr>
                <a:t>  </a:t>
              </a:r>
              <a:endParaRPr lang="zh-CN" altLang="en-US" dirty="0"/>
            </a:p>
          </p:txBody>
        </p:sp>
        <p:cxnSp>
          <p:nvCxnSpPr>
            <p:cNvPr id="25" name="直线箭头连接符 24">
              <a:extLst>
                <a:ext uri="{FF2B5EF4-FFF2-40B4-BE49-F238E27FC236}">
                  <a16:creationId xmlns:a16="http://schemas.microsoft.com/office/drawing/2014/main" id="{329CEBB4-4ABF-4AF2-8ABC-F3C5E6AC9E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2381" y="4367447"/>
              <a:ext cx="500679" cy="500679"/>
            </a:xfrm>
            <a:prstGeom prst="straightConnector1">
              <a:avLst/>
            </a:prstGeom>
            <a:ln w="31750">
              <a:solidFill>
                <a:schemeClr val="accent6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0754493-2251-CD67-516B-B47AE804C89E}"/>
                </a:ext>
              </a:extLst>
            </p:cNvPr>
            <p:cNvSpPr txBox="1"/>
            <p:nvPr/>
          </p:nvSpPr>
          <p:spPr>
            <a:xfrm>
              <a:off x="8411527" y="4176779"/>
              <a:ext cx="359394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en-US" altLang="zh-CN" i="1" dirty="0">
                  <a:latin typeface="InaiMathi" pitchFamily="2" charset="0"/>
                  <a:cs typeface="InaiMathi" pitchFamily="2" charset="0"/>
                </a:rPr>
                <a:t>z</a:t>
              </a:r>
              <a:r>
                <a:rPr kumimoji="1" lang="zh-CN" altLang="en-US" i="1" dirty="0">
                  <a:latin typeface="InaiMathi" pitchFamily="2" charset="0"/>
                  <a:cs typeface="InaiMathi" pitchFamily="2" charset="0"/>
                </a:rPr>
                <a:t> </a:t>
              </a:r>
              <a:endParaRPr lang="zh-CN" altLang="en-US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84277D4F-E307-D93A-A8A8-9E140CE7715C}"/>
              </a:ext>
            </a:extLst>
          </p:cNvPr>
          <p:cNvGrpSpPr/>
          <p:nvPr/>
        </p:nvGrpSpPr>
        <p:grpSpPr>
          <a:xfrm>
            <a:off x="9684617" y="4359639"/>
            <a:ext cx="1177864" cy="1210671"/>
            <a:chOff x="7937180" y="4176779"/>
            <a:chExt cx="1177864" cy="1210671"/>
          </a:xfrm>
        </p:grpSpPr>
        <p:cxnSp>
          <p:nvCxnSpPr>
            <p:cNvPr id="33" name="直线箭头连接符 32">
              <a:extLst>
                <a:ext uri="{FF2B5EF4-FFF2-40B4-BE49-F238E27FC236}">
                  <a16:creationId xmlns:a16="http://schemas.microsoft.com/office/drawing/2014/main" id="{C2DBA8EB-C5E2-DC5C-917B-0B6DF34E7041}"/>
                </a:ext>
              </a:extLst>
            </p:cNvPr>
            <p:cNvCxnSpPr>
              <a:cxnSpLocks/>
            </p:cNvCxnSpPr>
            <p:nvPr/>
          </p:nvCxnSpPr>
          <p:spPr>
            <a:xfrm>
              <a:off x="7937180" y="4724774"/>
              <a:ext cx="720000" cy="0"/>
            </a:xfrm>
            <a:prstGeom prst="straightConnector1">
              <a:avLst/>
            </a:prstGeom>
            <a:ln w="317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3AB7D353-23C9-50D0-8659-4F29E7D82F21}"/>
                </a:ext>
              </a:extLst>
            </p:cNvPr>
            <p:cNvSpPr txBox="1"/>
            <p:nvPr/>
          </p:nvSpPr>
          <p:spPr>
            <a:xfrm>
              <a:off x="8601762" y="4521695"/>
              <a:ext cx="513282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en-US" altLang="zh-CN" i="1" dirty="0">
                  <a:latin typeface="InaiMathi" pitchFamily="2" charset="0"/>
                  <a:cs typeface="InaiMathi" pitchFamily="2" charset="0"/>
                </a:rPr>
                <a:t>x(3)</a:t>
              </a:r>
              <a:endParaRPr lang="zh-CN" altLang="en-US" dirty="0"/>
            </a:p>
          </p:txBody>
        </p:sp>
        <p:cxnSp>
          <p:nvCxnSpPr>
            <p:cNvPr id="35" name="直线箭头连接符 34">
              <a:extLst>
                <a:ext uri="{FF2B5EF4-FFF2-40B4-BE49-F238E27FC236}">
                  <a16:creationId xmlns:a16="http://schemas.microsoft.com/office/drawing/2014/main" id="{1079FB6A-904B-ACF5-2CD8-380003825922}"/>
                </a:ext>
              </a:extLst>
            </p:cNvPr>
            <p:cNvCxnSpPr>
              <a:cxnSpLocks/>
            </p:cNvCxnSpPr>
            <p:nvPr/>
          </p:nvCxnSpPr>
          <p:spPr>
            <a:xfrm>
              <a:off x="8106117" y="4540047"/>
              <a:ext cx="0" cy="720000"/>
            </a:xfrm>
            <a:prstGeom prst="straightConnector1">
              <a:avLst/>
            </a:prstGeom>
            <a:ln w="317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C6CC7883-2709-AD86-A59B-11961FDE6C7C}"/>
                </a:ext>
              </a:extLst>
            </p:cNvPr>
            <p:cNvSpPr txBox="1"/>
            <p:nvPr/>
          </p:nvSpPr>
          <p:spPr>
            <a:xfrm>
              <a:off x="8078210" y="5018118"/>
              <a:ext cx="582211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en-US" altLang="zh-CN" i="1" dirty="0">
                  <a:latin typeface="InaiMathi" pitchFamily="2" charset="0"/>
                  <a:cs typeface="InaiMathi" pitchFamily="2" charset="0"/>
                </a:rPr>
                <a:t>y(1)</a:t>
              </a:r>
              <a:r>
                <a:rPr kumimoji="1" lang="zh-CN" altLang="en-US" i="1" dirty="0">
                  <a:latin typeface="InaiMathi" pitchFamily="2" charset="0"/>
                  <a:cs typeface="InaiMathi" pitchFamily="2" charset="0"/>
                </a:rPr>
                <a:t> </a:t>
              </a:r>
              <a:endParaRPr lang="zh-CN" altLang="en-US" dirty="0"/>
            </a:p>
          </p:txBody>
        </p:sp>
        <p:cxnSp>
          <p:nvCxnSpPr>
            <p:cNvPr id="37" name="直线箭头连接符 36">
              <a:extLst>
                <a:ext uri="{FF2B5EF4-FFF2-40B4-BE49-F238E27FC236}">
                  <a16:creationId xmlns:a16="http://schemas.microsoft.com/office/drawing/2014/main" id="{B73D95F3-DD32-047D-FCD3-3EC5D32D07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2381" y="4367447"/>
              <a:ext cx="500679" cy="500679"/>
            </a:xfrm>
            <a:prstGeom prst="straightConnector1">
              <a:avLst/>
            </a:prstGeom>
            <a:ln w="31750">
              <a:solidFill>
                <a:schemeClr val="accent6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AB9AC43F-58A8-D351-9931-00227F8134E0}"/>
                </a:ext>
              </a:extLst>
            </p:cNvPr>
            <p:cNvSpPr txBox="1"/>
            <p:nvPr/>
          </p:nvSpPr>
          <p:spPr>
            <a:xfrm>
              <a:off x="8411527" y="4176779"/>
              <a:ext cx="585417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en-US" altLang="zh-CN" i="1" dirty="0">
                  <a:latin typeface="InaiMathi" pitchFamily="2" charset="0"/>
                  <a:cs typeface="InaiMathi" pitchFamily="2" charset="0"/>
                </a:rPr>
                <a:t>z(0)</a:t>
              </a:r>
              <a:r>
                <a:rPr kumimoji="1" lang="zh-CN" altLang="en-US" i="1" dirty="0">
                  <a:latin typeface="InaiMathi" pitchFamily="2" charset="0"/>
                  <a:cs typeface="InaiMathi" pitchFamily="2" charset="0"/>
                </a:rPr>
                <a:t> </a:t>
              </a:r>
              <a:endParaRPr lang="zh-CN" altLang="en-US" dirty="0"/>
            </a:p>
          </p:txBody>
        </p:sp>
      </p:grpSp>
      <p:sp>
        <p:nvSpPr>
          <p:cNvPr id="48" name="矩形 47">
            <a:extLst>
              <a:ext uri="{FF2B5EF4-FFF2-40B4-BE49-F238E27FC236}">
                <a16:creationId xmlns:a16="http://schemas.microsoft.com/office/drawing/2014/main" id="{41FF7706-702C-E155-2012-78A798328E30}"/>
              </a:ext>
            </a:extLst>
          </p:cNvPr>
          <p:cNvSpPr/>
          <p:nvPr/>
        </p:nvSpPr>
        <p:spPr>
          <a:xfrm>
            <a:off x="446727" y="1332635"/>
            <a:ext cx="3307213" cy="4894429"/>
          </a:xfrm>
          <a:prstGeom prst="rect">
            <a:avLst/>
          </a:prstGeom>
          <a:solidFill>
            <a:srgbClr val="FFFFFF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7698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022B1B-D9DC-1CBE-E781-975B9F1FF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轴运算 </a:t>
            </a:r>
            <a:r>
              <a:rPr kumimoji="1" lang="en-US" altLang="zh-CN" dirty="0"/>
              <a:t>—</a:t>
            </a:r>
            <a:r>
              <a:rPr kumimoji="1" lang="zh-CN" altLang="en-US" dirty="0"/>
              <a:t> 按轴 </a:t>
            </a:r>
            <a:r>
              <a:rPr kumimoji="1" lang="en-US" altLang="zh-CN" dirty="0"/>
              <a:t>sum</a:t>
            </a:r>
            <a:r>
              <a:rPr kumimoji="1" lang="zh-CN" altLang="en-US" dirty="0"/>
              <a:t> 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56D90F-F541-6367-2BAA-BF3EE75A97A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2141929"/>
            <a:ext cx="3000858" cy="401503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kumimoji="1" lang="zh-CN" altLang="en-US" dirty="0"/>
              <a:t>按 </a:t>
            </a:r>
            <a:r>
              <a:rPr kumimoji="1" lang="en-US" altLang="zh-CN" i="1" dirty="0">
                <a:latin typeface="InaiMathi" pitchFamily="2" charset="0"/>
                <a:cs typeface="InaiMathi" pitchFamily="2" charset="0"/>
              </a:rPr>
              <a:t>x</a:t>
            </a:r>
            <a:r>
              <a:rPr kumimoji="1" lang="zh-CN" altLang="en-US" i="1" dirty="0">
                <a:latin typeface="InaiMathi" pitchFamily="2" charset="0"/>
                <a:cs typeface="InaiMathi" pitchFamily="2" charset="0"/>
              </a:rPr>
              <a:t> </a:t>
            </a:r>
            <a:r>
              <a:rPr kumimoji="1" lang="zh-CN" altLang="en-US" dirty="0"/>
              <a:t>轴 </a:t>
            </a:r>
            <a:r>
              <a:rPr kumimoji="1" lang="en-US" altLang="zh-CN" dirty="0"/>
              <a:t>sum</a:t>
            </a:r>
            <a:r>
              <a:rPr kumimoji="1" lang="zh-CN" altLang="en-US" dirty="0"/>
              <a:t>，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即 把 </a:t>
            </a:r>
            <a:r>
              <a:rPr kumimoji="1" lang="en-US" altLang="zh-CN" i="1" dirty="0">
                <a:latin typeface="InaiMathi" pitchFamily="2" charset="0"/>
                <a:cs typeface="InaiMathi" pitchFamily="2" charset="0"/>
              </a:rPr>
              <a:t>x</a:t>
            </a:r>
            <a:r>
              <a:rPr kumimoji="1" lang="zh-CN" altLang="en-US" i="1" dirty="0">
                <a:latin typeface="InaiMathi" pitchFamily="2" charset="0"/>
                <a:cs typeface="InaiMathi" pitchFamily="2" charset="0"/>
              </a:rPr>
              <a:t> </a:t>
            </a:r>
            <a:r>
              <a:rPr kumimoji="1" lang="zh-CN" altLang="en-US" dirty="0"/>
              <a:t>轴的数据求和成一个：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sz="2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注意：</a:t>
            </a:r>
            <a:r>
              <a:rPr kumimoji="1" lang="en-US" altLang="zh-CN" sz="2100" dirty="0">
                <a:solidFill>
                  <a:schemeClr val="accent6">
                    <a:lumMod val="75000"/>
                  </a:schemeClr>
                </a:solidFill>
              </a:rPr>
              <a:t>x</a:t>
            </a:r>
            <a:r>
              <a:rPr kumimoji="1" lang="zh-CN" altLang="en-US" sz="2100" dirty="0">
                <a:solidFill>
                  <a:schemeClr val="accent6">
                    <a:lumMod val="75000"/>
                  </a:schemeClr>
                </a:solidFill>
              </a:rPr>
              <a:t>轴</a:t>
            </a:r>
            <a:r>
              <a:rPr kumimoji="1" lang="zh-CN" altLang="en-US" sz="2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是 </a:t>
            </a:r>
            <a:r>
              <a:rPr kumimoji="1" lang="en-US" altLang="zh-CN" sz="21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kumimoji="1" lang="zh-CN" altLang="en-US" sz="2100" dirty="0">
                <a:solidFill>
                  <a:schemeClr val="accent6">
                    <a:lumMod val="75000"/>
                  </a:schemeClr>
                </a:solidFill>
              </a:rPr>
              <a:t>轴</a:t>
            </a:r>
            <a:r>
              <a:rPr kumimoji="1" lang="zh-CN" altLang="en-US" sz="2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kumimoji="1" lang="en-US" altLang="zh-CN" sz="2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...</a:t>
            </a:r>
          </a:p>
          <a:p>
            <a:pPr marL="0" indent="0">
              <a:buNone/>
            </a:pPr>
            <a:endParaRPr kumimoji="1" lang="en-US" altLang="zh-CN" dirty="0"/>
          </a:p>
          <a:p>
            <a:pPr>
              <a:lnSpc>
                <a:spcPct val="90000"/>
              </a:lnSpc>
            </a:pP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X.sum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(2)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kumimoji="1" lang="en-US" altLang="zh-CN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1" lang="zh-CN" alt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1" lang="zh-CN" alt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kumimoji="1" lang="en-US" altLang="zh-CN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1" lang="zh-CN" alt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kumimoji="1" lang="en-US" altLang="zh-CN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24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33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kumimoji="1" lang="en-US" altLang="zh-CN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kumimoji="1" lang="zh-CN" alt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8350351-F535-6851-3342-BF23D27CE580}"/>
              </a:ext>
            </a:extLst>
          </p:cNvPr>
          <p:cNvGrpSpPr/>
          <p:nvPr/>
        </p:nvGrpSpPr>
        <p:grpSpPr>
          <a:xfrm>
            <a:off x="8152784" y="4556471"/>
            <a:ext cx="1177864" cy="1210671"/>
            <a:chOff x="7937180" y="4176779"/>
            <a:chExt cx="1177864" cy="1210671"/>
          </a:xfrm>
        </p:grpSpPr>
        <p:cxnSp>
          <p:nvCxnSpPr>
            <p:cNvPr id="5" name="直线箭头连接符 4">
              <a:extLst>
                <a:ext uri="{FF2B5EF4-FFF2-40B4-BE49-F238E27FC236}">
                  <a16:creationId xmlns:a16="http://schemas.microsoft.com/office/drawing/2014/main" id="{49500FEE-584E-A5E0-74F0-8B67DADFEE82}"/>
                </a:ext>
              </a:extLst>
            </p:cNvPr>
            <p:cNvCxnSpPr>
              <a:cxnSpLocks/>
            </p:cNvCxnSpPr>
            <p:nvPr/>
          </p:nvCxnSpPr>
          <p:spPr>
            <a:xfrm>
              <a:off x="7937180" y="4724774"/>
              <a:ext cx="720000" cy="0"/>
            </a:xfrm>
            <a:prstGeom prst="straightConnector1">
              <a:avLst/>
            </a:prstGeom>
            <a:ln w="317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A018025-6FDA-1196-585B-8C2138A1A6FF}"/>
                </a:ext>
              </a:extLst>
            </p:cNvPr>
            <p:cNvSpPr txBox="1"/>
            <p:nvPr/>
          </p:nvSpPr>
          <p:spPr>
            <a:xfrm>
              <a:off x="8601762" y="4521695"/>
              <a:ext cx="513282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en-US" altLang="zh-CN" i="1" dirty="0">
                  <a:latin typeface="InaiMathi" pitchFamily="2" charset="0"/>
                  <a:cs typeface="InaiMathi" pitchFamily="2" charset="0"/>
                </a:rPr>
                <a:t>x(3)</a:t>
              </a:r>
              <a:endParaRPr lang="zh-CN" altLang="en-US" dirty="0"/>
            </a:p>
          </p:txBody>
        </p:sp>
        <p:cxnSp>
          <p:nvCxnSpPr>
            <p:cNvPr id="7" name="直线箭头连接符 6">
              <a:extLst>
                <a:ext uri="{FF2B5EF4-FFF2-40B4-BE49-F238E27FC236}">
                  <a16:creationId xmlns:a16="http://schemas.microsoft.com/office/drawing/2014/main" id="{74812DCD-68AA-5E13-E7AD-0A270C3A5BF5}"/>
                </a:ext>
              </a:extLst>
            </p:cNvPr>
            <p:cNvCxnSpPr>
              <a:cxnSpLocks/>
            </p:cNvCxnSpPr>
            <p:nvPr/>
          </p:nvCxnSpPr>
          <p:spPr>
            <a:xfrm>
              <a:off x="8106117" y="4540047"/>
              <a:ext cx="0" cy="720000"/>
            </a:xfrm>
            <a:prstGeom prst="straightConnector1">
              <a:avLst/>
            </a:prstGeom>
            <a:ln w="317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771CE89-D702-4AA2-B966-DB60F345FE11}"/>
                </a:ext>
              </a:extLst>
            </p:cNvPr>
            <p:cNvSpPr txBox="1"/>
            <p:nvPr/>
          </p:nvSpPr>
          <p:spPr>
            <a:xfrm>
              <a:off x="8078210" y="5018118"/>
              <a:ext cx="582211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en-US" altLang="zh-CN" i="1" dirty="0">
                  <a:latin typeface="InaiMathi" pitchFamily="2" charset="0"/>
                  <a:cs typeface="InaiMathi" pitchFamily="2" charset="0"/>
                </a:rPr>
                <a:t>y(1)</a:t>
              </a:r>
              <a:r>
                <a:rPr kumimoji="1" lang="zh-CN" altLang="en-US" i="1" dirty="0">
                  <a:latin typeface="InaiMathi" pitchFamily="2" charset="0"/>
                  <a:cs typeface="InaiMathi" pitchFamily="2" charset="0"/>
                </a:rPr>
                <a:t> </a:t>
              </a:r>
              <a:endParaRPr lang="zh-CN" altLang="en-US" dirty="0"/>
            </a:p>
          </p:txBody>
        </p:sp>
        <p:cxnSp>
          <p:nvCxnSpPr>
            <p:cNvPr id="9" name="直线箭头连接符 8">
              <a:extLst>
                <a:ext uri="{FF2B5EF4-FFF2-40B4-BE49-F238E27FC236}">
                  <a16:creationId xmlns:a16="http://schemas.microsoft.com/office/drawing/2014/main" id="{BAEC75E7-0089-59B3-E33B-1B831825E2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2381" y="4367447"/>
              <a:ext cx="500679" cy="500679"/>
            </a:xfrm>
            <a:prstGeom prst="straightConnector1">
              <a:avLst/>
            </a:prstGeom>
            <a:ln w="31750">
              <a:solidFill>
                <a:schemeClr val="accent6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570057D-D96F-F460-D481-458340D506EE}"/>
                </a:ext>
              </a:extLst>
            </p:cNvPr>
            <p:cNvSpPr txBox="1"/>
            <p:nvPr/>
          </p:nvSpPr>
          <p:spPr>
            <a:xfrm>
              <a:off x="8411527" y="4176779"/>
              <a:ext cx="585417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en-US" altLang="zh-CN" i="1" dirty="0">
                  <a:latin typeface="InaiMathi" pitchFamily="2" charset="0"/>
                  <a:cs typeface="InaiMathi" pitchFamily="2" charset="0"/>
                </a:rPr>
                <a:t>z(0)</a:t>
              </a:r>
              <a:r>
                <a:rPr kumimoji="1" lang="zh-CN" altLang="en-US" i="1" dirty="0">
                  <a:latin typeface="InaiMathi" pitchFamily="2" charset="0"/>
                  <a:cs typeface="InaiMathi" pitchFamily="2" charset="0"/>
                </a:rPr>
                <a:t> </a:t>
              </a:r>
              <a:endParaRPr lang="zh-CN" altLang="en-US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7D97F2B-1094-4581-9695-86FCB0C8E7AC}"/>
              </a:ext>
            </a:extLst>
          </p:cNvPr>
          <p:cNvGrpSpPr/>
          <p:nvPr/>
        </p:nvGrpSpPr>
        <p:grpSpPr>
          <a:xfrm>
            <a:off x="9540218" y="4666226"/>
            <a:ext cx="1832612" cy="1001222"/>
            <a:chOff x="4097134" y="5003338"/>
            <a:chExt cx="1832612" cy="1001222"/>
          </a:xfrm>
        </p:grpSpPr>
        <p:graphicFrame>
          <p:nvGraphicFramePr>
            <p:cNvPr id="12" name="表格 5">
              <a:extLst>
                <a:ext uri="{FF2B5EF4-FFF2-40B4-BE49-F238E27FC236}">
                  <a16:creationId xmlns:a16="http://schemas.microsoft.com/office/drawing/2014/main" id="{F156FD4D-4F64-4BA0-1AF1-0C945D23BCC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961180299"/>
                </p:ext>
              </p:extLst>
            </p:nvPr>
          </p:nvGraphicFramePr>
          <p:xfrm>
            <a:off x="4457352" y="5003338"/>
            <a:ext cx="1472394" cy="731520"/>
          </p:xfrm>
          <a:graphic>
            <a:graphicData uri="http://schemas.openxmlformats.org/drawingml/2006/table">
              <a:tbl>
                <a:tblPr bandRow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tableStyleId>{D7AC3CCA-C797-4891-BE02-D94E43425B78}</a:tableStyleId>
                </a:tblPr>
                <a:tblGrid>
                  <a:gridCol w="490798">
                    <a:extLst>
                      <a:ext uri="{9D8B030D-6E8A-4147-A177-3AD203B41FA5}">
                        <a16:colId xmlns:a16="http://schemas.microsoft.com/office/drawing/2014/main" val="3959134912"/>
                      </a:ext>
                    </a:extLst>
                  </a:gridCol>
                  <a:gridCol w="490798">
                    <a:extLst>
                      <a:ext uri="{9D8B030D-6E8A-4147-A177-3AD203B41FA5}">
                        <a16:colId xmlns:a16="http://schemas.microsoft.com/office/drawing/2014/main" val="1533543776"/>
                      </a:ext>
                    </a:extLst>
                  </a:gridCol>
                  <a:gridCol w="490798">
                    <a:extLst>
                      <a:ext uri="{9D8B030D-6E8A-4147-A177-3AD203B41FA5}">
                        <a16:colId xmlns:a16="http://schemas.microsoft.com/office/drawing/2014/main" val="1499652139"/>
                      </a:ext>
                    </a:extLst>
                  </a:gridCol>
                </a:tblGrid>
                <a:tr h="30133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7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8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9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extLst>
                    <a:ext uri="{0D108BD9-81ED-4DB2-BD59-A6C34878D82A}">
                      <a16:rowId xmlns:a16="http://schemas.microsoft.com/office/drawing/2014/main" val="2102569720"/>
                    </a:ext>
                  </a:extLst>
                </a:tr>
                <a:tr h="30133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10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11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12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extLst>
                    <a:ext uri="{0D108BD9-81ED-4DB2-BD59-A6C34878D82A}">
                      <a16:rowId xmlns:a16="http://schemas.microsoft.com/office/drawing/2014/main" val="1577057545"/>
                    </a:ext>
                  </a:extLst>
                </a:tr>
              </a:tbl>
            </a:graphicData>
          </a:graphic>
        </p:graphicFrame>
        <p:graphicFrame>
          <p:nvGraphicFramePr>
            <p:cNvPr id="13" name="表格 12">
              <a:extLst>
                <a:ext uri="{FF2B5EF4-FFF2-40B4-BE49-F238E27FC236}">
                  <a16:creationId xmlns:a16="http://schemas.microsoft.com/office/drawing/2014/main" id="{38634E3C-CF9A-3C69-65C5-6C321103E71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36535987"/>
                </p:ext>
              </p:extLst>
            </p:nvPr>
          </p:nvGraphicFramePr>
          <p:xfrm>
            <a:off x="4097134" y="5273040"/>
            <a:ext cx="1472394" cy="731520"/>
          </p:xfrm>
          <a:graphic>
            <a:graphicData uri="http://schemas.openxmlformats.org/drawingml/2006/table">
              <a:tbl>
                <a:tblPr bandRow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tableStyleId>{D7AC3CCA-C797-4891-BE02-D94E43425B78}</a:tableStyleId>
                </a:tblPr>
                <a:tblGrid>
                  <a:gridCol w="490798">
                    <a:extLst>
                      <a:ext uri="{9D8B030D-6E8A-4147-A177-3AD203B41FA5}">
                        <a16:colId xmlns:a16="http://schemas.microsoft.com/office/drawing/2014/main" val="3959134912"/>
                      </a:ext>
                    </a:extLst>
                  </a:gridCol>
                  <a:gridCol w="490798">
                    <a:extLst>
                      <a:ext uri="{9D8B030D-6E8A-4147-A177-3AD203B41FA5}">
                        <a16:colId xmlns:a16="http://schemas.microsoft.com/office/drawing/2014/main" val="1533543776"/>
                      </a:ext>
                    </a:extLst>
                  </a:gridCol>
                  <a:gridCol w="490798">
                    <a:extLst>
                      <a:ext uri="{9D8B030D-6E8A-4147-A177-3AD203B41FA5}">
                        <a16:colId xmlns:a16="http://schemas.microsoft.com/office/drawing/2014/main" val="1499652139"/>
                      </a:ext>
                    </a:extLst>
                  </a:gridCol>
                </a:tblGrid>
                <a:tr h="30133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1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2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3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extLst>
                    <a:ext uri="{0D108BD9-81ED-4DB2-BD59-A6C34878D82A}">
                      <a16:rowId xmlns:a16="http://schemas.microsoft.com/office/drawing/2014/main" val="2102569720"/>
                    </a:ext>
                  </a:extLst>
                </a:tr>
                <a:tr h="30133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4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5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b="1" dirty="0">
                            <a:latin typeface="Consolas" panose="020B0609020204030204" pitchFamily="49" charset="0"/>
                            <a:cs typeface="Consolas" panose="020B0609020204030204" pitchFamily="49" charset="0"/>
                          </a:rPr>
                          <a:t>6</a:t>
                        </a:r>
                        <a:endParaRPr lang="zh-CN" altLang="en-US" b="1" dirty="0">
                          <a:latin typeface="Consolas" panose="020B0609020204030204" pitchFamily="49" charset="0"/>
                          <a:cs typeface="Consolas" panose="020B0609020204030204" pitchFamily="49" charset="0"/>
                        </a:endParaRPr>
                      </a:p>
                    </a:txBody>
                    <a:tcPr marL="110642" marR="110642"/>
                  </a:tc>
                  <a:extLst>
                    <a:ext uri="{0D108BD9-81ED-4DB2-BD59-A6C34878D82A}">
                      <a16:rowId xmlns:a16="http://schemas.microsoft.com/office/drawing/2014/main" val="1577057545"/>
                    </a:ext>
                  </a:extLst>
                </a:tr>
              </a:tbl>
            </a:graphicData>
          </a:graphic>
        </p:graphicFrame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92693EEF-91DC-AA03-62A4-7B9AB03BC885}"/>
              </a:ext>
            </a:extLst>
          </p:cNvPr>
          <p:cNvSpPr txBox="1"/>
          <p:nvPr/>
        </p:nvSpPr>
        <p:spPr>
          <a:xfrm>
            <a:off x="8463443" y="1256582"/>
            <a:ext cx="2337499" cy="2585323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>
              <a:lnSpc>
                <a:spcPct val="90000"/>
              </a:lnSpc>
            </a:pPr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kumimoji="1" lang="en-US" altLang="zh-CN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>
              <a:lnSpc>
                <a:spcPct val="90000"/>
              </a:lnSpc>
            </a:pPr>
            <a:r>
              <a:rPr kumimoji="1" lang="zh-CN" alt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[1,</a:t>
            </a:r>
            <a:r>
              <a:rPr kumimoji="1" lang="zh-CN" alt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2,</a:t>
            </a:r>
            <a:r>
              <a:rPr kumimoji="1" lang="zh-CN" alt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3]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</a:pPr>
            <a:r>
              <a:rPr kumimoji="1" lang="zh-CN" alt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[4,</a:t>
            </a:r>
            <a:r>
              <a:rPr kumimoji="1" lang="zh-CN" alt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5,</a:t>
            </a:r>
            <a:r>
              <a:rPr kumimoji="1" lang="zh-CN" alt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6]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</a:pPr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kumimoji="1" lang="en-US" altLang="zh-CN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</a:pPr>
            <a:r>
              <a:rPr kumimoji="1" lang="zh-CN" alt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kumimoji="1" lang="en-US" altLang="zh-CN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>
              <a:lnSpc>
                <a:spcPct val="90000"/>
              </a:lnSpc>
            </a:pPr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[7,</a:t>
            </a:r>
            <a:r>
              <a:rPr kumimoji="1" lang="zh-CN" alt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8,</a:t>
            </a:r>
            <a:r>
              <a:rPr kumimoji="1" lang="zh-CN" alt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9]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</a:pPr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[10,</a:t>
            </a:r>
            <a:r>
              <a:rPr kumimoji="1" lang="zh-CN" alt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11,</a:t>
            </a:r>
            <a:r>
              <a:rPr kumimoji="1" lang="zh-CN" alt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12]</a:t>
            </a: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</a:pPr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kumimoji="1" lang="en-US" altLang="zh-CN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kumimoji="1"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kumimoji="1" lang="zh-CN" alt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3228E803-94EF-AEA3-F315-EAD15F3056E2}"/>
              </a:ext>
            </a:extLst>
          </p:cNvPr>
          <p:cNvSpPr txBox="1">
            <a:spLocks/>
          </p:cNvSpPr>
          <p:nvPr/>
        </p:nvSpPr>
        <p:spPr>
          <a:xfrm>
            <a:off x="3767183" y="2141930"/>
            <a:ext cx="4475061" cy="303967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13" indent="-274313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 marL="548626" indent="-274313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b="0" i="0" kern="120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2pPr>
            <a:lvl3pPr marL="822939" indent="-228594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 marL="1097253" indent="-228594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 marL="1371566" indent="-228594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  <a:lvl6pPr marL="1645879" indent="-182875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754" indent="-182875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30" indent="-182875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05" indent="-182875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/>
              <a:buNone/>
            </a:pPr>
            <a:r>
              <a:rPr kumimoji="1" lang="zh-CN" altLang="en-US" sz="1600" dirty="0"/>
              <a:t>按 </a:t>
            </a:r>
            <a:r>
              <a:rPr kumimoji="1" lang="en-US" altLang="zh-CN" sz="1600" dirty="0"/>
              <a:t>y</a:t>
            </a:r>
            <a:r>
              <a:rPr kumimoji="1" lang="zh-CN" altLang="en-US" sz="1600" i="1" dirty="0">
                <a:latin typeface="InaiMathi" pitchFamily="2" charset="0"/>
                <a:cs typeface="InaiMathi" pitchFamily="2" charset="0"/>
              </a:rPr>
              <a:t> </a:t>
            </a:r>
            <a:r>
              <a:rPr kumimoji="1" lang="zh-CN" altLang="en-US" sz="1600" dirty="0"/>
              <a:t>轴 </a:t>
            </a:r>
            <a:r>
              <a:rPr kumimoji="1" lang="en-US" altLang="zh-CN" sz="1600" dirty="0"/>
              <a:t>sum</a:t>
            </a:r>
            <a:r>
              <a:rPr kumimoji="1" lang="zh-CN" altLang="en-US" sz="1600" dirty="0"/>
              <a:t>，</a:t>
            </a:r>
            <a:endParaRPr kumimoji="1" lang="en-US" altLang="zh-CN" sz="1600" dirty="0"/>
          </a:p>
          <a:p>
            <a:pPr marL="0" indent="0">
              <a:buFont typeface="Wingdings 3"/>
              <a:buNone/>
            </a:pPr>
            <a:r>
              <a:rPr kumimoji="1" lang="zh-CN" altLang="en-US" sz="1600" dirty="0"/>
              <a:t>把 </a:t>
            </a:r>
            <a:r>
              <a:rPr kumimoji="1" lang="en-US" altLang="zh-CN" sz="1600" i="1" dirty="0">
                <a:latin typeface="InaiMathi" pitchFamily="2" charset="0"/>
                <a:cs typeface="InaiMathi" pitchFamily="2" charset="0"/>
              </a:rPr>
              <a:t>y</a:t>
            </a:r>
            <a:r>
              <a:rPr kumimoji="1" lang="zh-CN" altLang="en-US" sz="1600" i="1" dirty="0">
                <a:latin typeface="InaiMathi" pitchFamily="2" charset="0"/>
                <a:cs typeface="InaiMathi" pitchFamily="2" charset="0"/>
              </a:rPr>
              <a:t> </a:t>
            </a:r>
            <a:r>
              <a:rPr kumimoji="1" lang="zh-CN" altLang="en-US" sz="1600" dirty="0"/>
              <a:t>轴的数据求和成一个：</a:t>
            </a:r>
            <a:endParaRPr kumimoji="1" lang="en-US" altLang="zh-CN" sz="1600" dirty="0"/>
          </a:p>
          <a:p>
            <a:pPr marL="0" indent="0">
              <a:buFont typeface="Wingdings 3"/>
              <a:buNone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注意：</a:t>
            </a:r>
            <a:r>
              <a:rPr kumimoji="1" lang="en-US" altLang="zh-CN" sz="1200" dirty="0">
                <a:solidFill>
                  <a:schemeClr val="accent6">
                    <a:lumMod val="75000"/>
                  </a:schemeClr>
                </a:solidFill>
              </a:rPr>
              <a:t>y</a:t>
            </a:r>
            <a:r>
              <a:rPr kumimoji="1" lang="zh-CN" altLang="en-US" sz="1200" dirty="0">
                <a:solidFill>
                  <a:schemeClr val="accent6">
                    <a:lumMod val="75000"/>
                  </a:schemeClr>
                </a:solidFill>
              </a:rPr>
              <a:t>轴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是 </a:t>
            </a:r>
            <a:r>
              <a:rPr kumimoji="1" lang="en-US" altLang="zh-CN" sz="12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kumimoji="1" lang="zh-CN" altLang="en-US" sz="1200" dirty="0">
                <a:solidFill>
                  <a:schemeClr val="accent6">
                    <a:lumMod val="75000"/>
                  </a:schemeClr>
                </a:solidFill>
              </a:rPr>
              <a:t>轴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...</a:t>
            </a:r>
          </a:p>
          <a:p>
            <a:pPr marL="0" indent="0">
              <a:buFont typeface="Wingdings 3"/>
              <a:buNone/>
            </a:pPr>
            <a:endParaRPr kumimoji="1" lang="en-US" altLang="zh-CN" sz="1600" dirty="0"/>
          </a:p>
          <a:p>
            <a:pPr>
              <a:lnSpc>
                <a:spcPct val="90000"/>
              </a:lnSpc>
            </a:pPr>
            <a:r>
              <a:rPr kumimoji="1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X.sum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(1)</a:t>
            </a:r>
            <a:r>
              <a:rPr kumimoji="1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1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1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90000"/>
              </a:lnSpc>
              <a:buFont typeface="Wingdings 3"/>
              <a:buNone/>
            </a:pPr>
            <a:r>
              <a:rPr kumimoji="1"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endParaRPr kumimoji="1" lang="en-US" altLang="zh-CN" sz="16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kumimoji="1" lang="zh-CN" alt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1" lang="en-US" altLang="zh-CN" sz="16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kumimoji="1" lang="en-US" altLang="zh-CN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kumimoji="1" lang="en-US" altLang="zh-CN" sz="16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kumimoji="1" lang="zh-CN" alt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6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kumimoji="1" lang="en-US" altLang="zh-CN" sz="16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 </a:t>
            </a:r>
            <a:r>
              <a:rPr kumimoji="1" lang="en-US" altLang="zh-CN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kumimoji="1" lang="en-US" altLang="zh-CN" sz="16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kumimoji="1"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1" lang="zh-CN" alt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1" lang="en-US" altLang="zh-CN" sz="16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kumimoji="1" lang="en-US" altLang="zh-CN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17</a:t>
            </a:r>
            <a:r>
              <a:rPr kumimoji="1" lang="en-US" altLang="zh-CN" sz="16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kumimoji="1" lang="en-US" altLang="zh-CN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19</a:t>
            </a:r>
            <a:r>
              <a:rPr kumimoji="1" lang="en-US" altLang="zh-CN" sz="16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kumimoji="1" lang="en-US" altLang="zh-CN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21</a:t>
            </a:r>
            <a:r>
              <a:rPr kumimoji="1" lang="en-US" altLang="zh-CN" sz="16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kumimoji="1"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kumimoji="1" lang="en-US" altLang="zh-CN" sz="16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90000"/>
              </a:lnSpc>
              <a:buFont typeface="Wingdings 3"/>
              <a:buNone/>
            </a:pPr>
            <a:r>
              <a:rPr kumimoji="1"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kumimoji="1" lang="en-US" altLang="zh-CN" sz="1600" dirty="0"/>
          </a:p>
          <a:p>
            <a:pPr marL="0" indent="0">
              <a:buFont typeface="Wingdings 3"/>
              <a:buNone/>
            </a:pPr>
            <a:endParaRPr kumimoji="1" lang="en-US" altLang="zh-CN" sz="1600" dirty="0"/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1F68EBC6-267D-299D-83CD-0C8432ABF77A}"/>
              </a:ext>
            </a:extLst>
          </p:cNvPr>
          <p:cNvSpPr txBox="1">
            <a:spLocks/>
          </p:cNvSpPr>
          <p:nvPr/>
        </p:nvSpPr>
        <p:spPr>
          <a:xfrm>
            <a:off x="2455281" y="1304636"/>
            <a:ext cx="2105063" cy="492443"/>
          </a:xfrm>
          <a:prstGeom prst="rect">
            <a:avLst/>
          </a:prstGeom>
        </p:spPr>
        <p:txBody>
          <a:bodyPr vert="horz" wrap="none">
            <a:spAutoFit/>
          </a:bodyPr>
          <a:lstStyle>
            <a:lvl1pPr marL="274313" indent="-274313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 marL="548626" indent="-274313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b="0" i="0" kern="120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2pPr>
            <a:lvl3pPr marL="822939" indent="-228594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 marL="1097253" indent="-228594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 marL="1371566" indent="-228594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  <a:lvl6pPr marL="1645879" indent="-182875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754" indent="-182875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30" indent="-182875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05" indent="-182875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/>
              <a:buNone/>
            </a:pPr>
            <a:r>
              <a:rPr kumimoji="1" lang="en-US" altLang="zh-CN" dirty="0"/>
              <a:t>X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zh-CN" altLang="en-US" sz="1800" dirty="0"/>
              <a:t>右边示例数据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44538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CD8B45-3213-34A4-7327-ACF7D6E1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广播运算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5CE5DC-F0CE-5E78-476C-9F7BF91F3C0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43031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质朴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1" id="{E364EA76-DBBB-134B-99B5-A55C38DCBE24}" vid="{BA349E3D-38C9-F242-9C9B-85C85967C27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s1</Template>
  <TotalTime>6132</TotalTime>
  <Words>700</Words>
  <Application>Microsoft Macintosh PowerPoint</Application>
  <PresentationFormat>宽屏</PresentationFormat>
  <Paragraphs>158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等线</vt:lpstr>
      <vt:lpstr>Cambria Math</vt:lpstr>
      <vt:lpstr>Consolas</vt:lpstr>
      <vt:lpstr>Dubai</vt:lpstr>
      <vt:lpstr>InaiMathi</vt:lpstr>
      <vt:lpstr>Tw Cen MT</vt:lpstr>
      <vt:lpstr>Wingdings</vt:lpstr>
      <vt:lpstr>Wingdings 3</vt:lpstr>
      <vt:lpstr>s1</vt:lpstr>
      <vt:lpstr>向量(矩阵)的表达与运算</vt:lpstr>
      <vt:lpstr>术语</vt:lpstr>
      <vt:lpstr>多维数据的 表示 与 索引</vt:lpstr>
      <vt:lpstr>多维数据的 表示 与 索引 cont.</vt:lpstr>
      <vt:lpstr>轴运算 — 按轴 sum 为例</vt:lpstr>
      <vt:lpstr>广播运算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向量(矩阵)的表达与运算</dc:title>
  <dc:creator>Microsoft Office User</dc:creator>
  <cp:lastModifiedBy>Microsoft Office User</cp:lastModifiedBy>
  <cp:revision>18</cp:revision>
  <dcterms:created xsi:type="dcterms:W3CDTF">2022-08-31T06:35:52Z</dcterms:created>
  <dcterms:modified xsi:type="dcterms:W3CDTF">2022-09-04T12:48:38Z</dcterms:modified>
</cp:coreProperties>
</file>